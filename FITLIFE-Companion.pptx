
<file path=[Content_Types].xml><?xml version="1.0" encoding="utf-8"?>
<Types xmlns="http://schemas.openxmlformats.org/package/2006/content-types">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66" r:id="rId3"/>
    <p:sldId id="257" r:id="rId4"/>
    <p:sldId id="258" r:id="rId5"/>
    <p:sldId id="259" r:id="rId6"/>
    <p:sldId id="260" r:id="rId7"/>
    <p:sldId id="261" r:id="rId8"/>
    <p:sldId id="262" r:id="rId9"/>
    <p:sldId id="268" r:id="rId10"/>
    <p:sldId id="272" r:id="rId11"/>
    <p:sldId id="273" r:id="rId12"/>
    <p:sldId id="269" r:id="rId13"/>
    <p:sldId id="270" r:id="rId14"/>
    <p:sldId id="271" r:id="rId15"/>
    <p:sldId id="274" r:id="rId16"/>
    <p:sldId id="264" r:id="rId17"/>
    <p:sldId id="267" r:id="rId18"/>
    <p:sldId id="265" r:id="rId19"/>
  </p:sldIdLst>
  <p:sldSz cx="14630400" cy="8229600"/>
  <p:notesSz cx="8229600" cy="14630400"/>
  <p:embeddedFontLst>
    <p:embeddedFont>
      <p:font typeface="Noto Serif" panose="02020600060500020200" pitchFamily="18" charset="0"/>
      <p:regular r:id="rId21"/>
    </p:embeddedFont>
    <p:embeddedFont>
      <p:font typeface="Noto Serif Medium"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9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7T16:53:59.308"/>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1 208,'107'0,"322"-6,-308-1,184-36,-78-9,-100 21,2 4,204-14,-215 40,-70 2,-39-1,-13 1,-1605 3,1452-4,294 0,820 16,-698-8,430 25,-483-14,264 58,-373-54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9C3898CE-D43A-4A40-B925-6E4B743DD8E8}" type="datetimeFigureOut">
              <a:rPr lang="en-US" smtClean="0"/>
              <a:t>4/28/2026</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C434A582-715F-4C45-A2E0-45F19D221D3C}" type="slidenum">
              <a:rPr lang="en-US" smtClean="0"/>
              <a:t>‹#›</a:t>
            </a:fld>
            <a:endParaRPr lang="en-US"/>
          </a:p>
        </p:txBody>
      </p:sp>
    </p:spTree>
    <p:extLst>
      <p:ext uri="{BB962C8B-B14F-4D97-AF65-F5344CB8AC3E}">
        <p14:creationId xmlns:p14="http://schemas.microsoft.com/office/powerpoint/2010/main" val="2213114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jpeg"/><Relationship Id="rId1" Type="http://schemas.openxmlformats.org/officeDocument/2006/relationships/slideLayout" Target="../slideLayouts/slideLayout10.xml"/><Relationship Id="rId5" Type="http://schemas.openxmlformats.org/officeDocument/2006/relationships/image" Target="../media/image4.jfi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fif"/></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jfif"/></Relationships>
</file>

<file path=ppt/slides/_rels/slide5.xml.rels><?xml version="1.0" encoding="UTF-8" standalone="yes"?>
<Relationships xmlns="http://schemas.openxmlformats.org/package/2006/relationships"><Relationship Id="rId8" Type="http://schemas.openxmlformats.org/officeDocument/2006/relationships/image" Target="../media/image4.jfif"/><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jfi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jfif"/><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1.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image" Target="../media/image4.jfif"/></Relationships>
</file>

<file path=ppt/slides/_rels/slide17.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3234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Fitlife: Your Ultimate Fitness Companion</a:t>
            </a:r>
            <a:endParaRPr lang="en-US" sz="4450" dirty="0"/>
          </a:p>
        </p:txBody>
      </p:sp>
      <p:sp>
        <p:nvSpPr>
          <p:cNvPr id="4" name="Text 1"/>
          <p:cNvSpPr/>
          <p:nvPr/>
        </p:nvSpPr>
        <p:spPr>
          <a:xfrm>
            <a:off x="793790" y="4290060"/>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A smart, personalised fitness platform designed to help you achieve your health goals — one step at a time.</a:t>
            </a:r>
            <a:endParaRPr lang="en-US" sz="1750" dirty="0"/>
          </a:p>
        </p:txBody>
      </p:sp>
      <p:sp>
        <p:nvSpPr>
          <p:cNvPr id="5" name="Shape 2"/>
          <p:cNvSpPr/>
          <p:nvPr/>
        </p:nvSpPr>
        <p:spPr>
          <a:xfrm>
            <a:off x="793790" y="5271016"/>
            <a:ext cx="3501033" cy="426244"/>
          </a:xfrm>
          <a:prstGeom prst="roundRect">
            <a:avLst>
              <a:gd name="adj" fmla="val 17880"/>
            </a:avLst>
          </a:prstGeom>
          <a:solidFill>
            <a:srgbClr val="E8E6E3"/>
          </a:solidFill>
          <a:ln/>
        </p:spPr>
      </p:sp>
      <p:sp>
        <p:nvSpPr>
          <p:cNvPr id="6" name="Text 3"/>
          <p:cNvSpPr/>
          <p:nvPr/>
        </p:nvSpPr>
        <p:spPr>
          <a:xfrm>
            <a:off x="929878" y="5339001"/>
            <a:ext cx="3228856" cy="290274"/>
          </a:xfrm>
          <a:prstGeom prst="rect">
            <a:avLst/>
          </a:prstGeom>
          <a:noFill/>
          <a:ln/>
        </p:spPr>
        <p:txBody>
          <a:bodyPr wrap="none" lIns="0" tIns="0" rIns="0" bIns="0" rtlCol="0" anchor="t"/>
          <a:lstStyle/>
          <a:p>
            <a:pPr marL="0" indent="0" algn="l">
              <a:lnSpc>
                <a:spcPts val="2250"/>
              </a:lnSpc>
              <a:buNone/>
            </a:pPr>
            <a:r>
              <a:rPr lang="en-US" sz="1400" dirty="0">
                <a:solidFill>
                  <a:srgbClr val="4C4C4C"/>
                </a:solidFill>
                <a:latin typeface="Noto Serif" pitchFamily="34" charset="0"/>
                <a:ea typeface="Noto Serif" pitchFamily="34" charset="-122"/>
                <a:cs typeface="Noto Serif" pitchFamily="34" charset="-120"/>
              </a:rPr>
              <a:t>FITNESS · WELLNESS ·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DA30EF-FB11-190E-F742-072F594A61DD}"/>
              </a:ext>
            </a:extLst>
          </p:cNvPr>
          <p:cNvPicPr>
            <a:picLocks noChangeAspect="1"/>
          </p:cNvPicPr>
          <p:nvPr/>
        </p:nvPicPr>
        <p:blipFill>
          <a:blip r:embed="rId2"/>
          <a:stretch>
            <a:fillRect/>
          </a:stretch>
        </p:blipFill>
        <p:spPr>
          <a:xfrm>
            <a:off x="652101" y="442686"/>
            <a:ext cx="4356367" cy="6502400"/>
          </a:xfrm>
          <a:prstGeom prst="rect">
            <a:avLst/>
          </a:prstGeom>
        </p:spPr>
      </p:pic>
      <p:sp>
        <p:nvSpPr>
          <p:cNvPr id="6" name="TextBox 5">
            <a:extLst>
              <a:ext uri="{FF2B5EF4-FFF2-40B4-BE49-F238E27FC236}">
                <a16:creationId xmlns:a16="http://schemas.microsoft.com/office/drawing/2014/main" id="{8D318C19-F0B0-FDCD-98CE-619170A8C63C}"/>
              </a:ext>
            </a:extLst>
          </p:cNvPr>
          <p:cNvSpPr txBox="1"/>
          <p:nvPr/>
        </p:nvSpPr>
        <p:spPr>
          <a:xfrm>
            <a:off x="6958425" y="442686"/>
            <a:ext cx="6416357" cy="6186309"/>
          </a:xfrm>
          <a:prstGeom prst="rect">
            <a:avLst/>
          </a:prstGeom>
          <a:noFill/>
        </p:spPr>
        <p:txBody>
          <a:bodyPr wrap="square">
            <a:spAutoFit/>
          </a:bodyPr>
          <a:lstStyle/>
          <a:p>
            <a:r>
              <a:rPr lang="en-US" sz="3600" b="1" dirty="0"/>
              <a:t>Company Profile</a:t>
            </a:r>
          </a:p>
          <a:p>
            <a:endParaRPr lang="en-US" sz="2400" dirty="0"/>
          </a:p>
          <a:p>
            <a:r>
              <a:rPr lang="en-US" sz="2400" dirty="0"/>
              <a:t>Founded </a:t>
            </a:r>
            <a:r>
              <a:rPr lang="en-GB" sz="2400" dirty="0"/>
              <a:t>--- </a:t>
            </a:r>
            <a:r>
              <a:rPr lang="en-US" sz="2400" dirty="0"/>
              <a:t>2025</a:t>
            </a:r>
          </a:p>
          <a:p>
            <a:endParaRPr lang="en-GB" sz="2400" dirty="0"/>
          </a:p>
          <a:p>
            <a:r>
              <a:rPr lang="en-US" sz="2400" dirty="0"/>
              <a:t>Headquarters -- Pune, India</a:t>
            </a:r>
          </a:p>
          <a:p>
            <a:endParaRPr lang="en-US" sz="2400" dirty="0"/>
          </a:p>
          <a:p>
            <a:r>
              <a:rPr lang="en-US" sz="2400" dirty="0"/>
              <a:t>Services --   Sports tech, Kho-Kho analytics, performance tracking, match insights, talent scouting, fan engagement</a:t>
            </a:r>
          </a:p>
          <a:p>
            <a:endParaRPr lang="en-US" sz="2400" dirty="0"/>
          </a:p>
          <a:p>
            <a:r>
              <a:rPr lang="en-US" sz="2400" dirty="0"/>
              <a:t>Mission -- To transform grassroots sports through technology and data</a:t>
            </a:r>
          </a:p>
          <a:p>
            <a:endParaRPr lang="en-US" sz="2400" dirty="0"/>
          </a:p>
          <a:p>
            <a:r>
              <a:rPr lang="en-US" sz="2400" dirty="0"/>
              <a:t>About -- Final Whistle is a sports-tech platform modernizing traditional sports like Kho-Kho using analytics and digital solutions.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37BA8FF-9A59-C40F-D2DC-E6C4A036A148}"/>
                  </a:ext>
                </a:extLst>
              </p14:cNvPr>
              <p14:cNvContentPartPr/>
              <p14:nvPr/>
            </p14:nvContentPartPr>
            <p14:xfrm>
              <a:off x="13135074" y="7922474"/>
              <a:ext cx="1079640" cy="75240"/>
            </p14:xfrm>
          </p:contentPart>
        </mc:Choice>
        <mc:Fallback xmlns="">
          <p:pic>
            <p:nvPicPr>
              <p:cNvPr id="3" name="Ink 2">
                <a:extLst>
                  <a:ext uri="{FF2B5EF4-FFF2-40B4-BE49-F238E27FC236}">
                    <a16:creationId xmlns:a16="http://schemas.microsoft.com/office/drawing/2014/main" id="{437BA8FF-9A59-C40F-D2DC-E6C4A036A148}"/>
                  </a:ext>
                </a:extLst>
              </p:cNvPr>
              <p:cNvPicPr/>
              <p:nvPr/>
            </p:nvPicPr>
            <p:blipFill>
              <a:blip r:embed="rId4"/>
              <a:stretch>
                <a:fillRect/>
              </a:stretch>
            </p:blipFill>
            <p:spPr>
              <a:xfrm>
                <a:off x="13081434" y="7814474"/>
                <a:ext cx="1187280" cy="290880"/>
              </a:xfrm>
              <a:prstGeom prst="rect">
                <a:avLst/>
              </a:prstGeom>
            </p:spPr>
          </p:pic>
        </mc:Fallback>
      </mc:AlternateContent>
      <p:pic>
        <p:nvPicPr>
          <p:cNvPr id="10" name="Picture 9">
            <a:extLst>
              <a:ext uri="{FF2B5EF4-FFF2-40B4-BE49-F238E27FC236}">
                <a16:creationId xmlns:a16="http://schemas.microsoft.com/office/drawing/2014/main" id="{CA68A110-E8F8-87F8-50B3-E3571566EDA8}"/>
              </a:ext>
            </a:extLst>
          </p:cNvPr>
          <p:cNvPicPr>
            <a:picLocks noChangeAspect="1"/>
          </p:cNvPicPr>
          <p:nvPr/>
        </p:nvPicPr>
        <p:blipFill>
          <a:blip r:embed="rId5"/>
          <a:stretch>
            <a:fillRect/>
          </a:stretch>
        </p:blipFill>
        <p:spPr>
          <a:xfrm>
            <a:off x="11830050" y="6456585"/>
            <a:ext cx="2800350" cy="1638300"/>
          </a:xfrm>
          <a:prstGeom prst="rect">
            <a:avLst/>
          </a:prstGeom>
        </p:spPr>
      </p:pic>
    </p:spTree>
    <p:extLst>
      <p:ext uri="{BB962C8B-B14F-4D97-AF65-F5344CB8AC3E}">
        <p14:creationId xmlns:p14="http://schemas.microsoft.com/office/powerpoint/2010/main" val="3921540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5783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Our Vision: Transforming Health and Wellness</a:t>
            </a:r>
            <a:endParaRPr lang="en-US" sz="4450" dirty="0"/>
          </a:p>
        </p:txBody>
      </p:sp>
      <p:sp>
        <p:nvSpPr>
          <p:cNvPr id="4" name="Text 1"/>
          <p:cNvSpPr/>
          <p:nvPr/>
        </p:nvSpPr>
        <p:spPr>
          <a:xfrm>
            <a:off x="6280190" y="2515553"/>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Fitlife was born from a simple belief — everyone deserves access to personalised, science-backed fitness guidance. We bridge the gap between motivation and results by combining smart technology with human-centred design.</a:t>
            </a:r>
            <a:endParaRPr lang="en-US" sz="1750" dirty="0"/>
          </a:p>
        </p:txBody>
      </p:sp>
      <p:sp>
        <p:nvSpPr>
          <p:cNvPr id="5" name="Shape 2"/>
          <p:cNvSpPr/>
          <p:nvPr/>
        </p:nvSpPr>
        <p:spPr>
          <a:xfrm>
            <a:off x="6280190" y="4222313"/>
            <a:ext cx="3664744" cy="1692712"/>
          </a:xfrm>
          <a:prstGeom prst="roundRect">
            <a:avLst>
              <a:gd name="adj" fmla="val 5628"/>
            </a:avLst>
          </a:prstGeom>
          <a:solidFill>
            <a:srgbClr val="E6DED2">
              <a:alpha val="50000"/>
            </a:srgbClr>
          </a:solidFill>
          <a:ln w="7620">
            <a:solidFill>
              <a:srgbClr val="CCC4B8"/>
            </a:solidFill>
            <a:prstDash val="solid"/>
          </a:ln>
          <a:effectLst>
            <a:outerShdw dist="29210" dir="2700000" algn="bl" rotWithShape="0">
              <a:srgbClr val="CCC4B8">
                <a:alpha val="100000"/>
              </a:srgbClr>
            </a:outerShdw>
          </a:effectLst>
        </p:spPr>
      </p:sp>
      <p:sp>
        <p:nvSpPr>
          <p:cNvPr id="6" name="Text 3"/>
          <p:cNvSpPr/>
          <p:nvPr/>
        </p:nvSpPr>
        <p:spPr>
          <a:xfrm>
            <a:off x="6514624" y="4456748"/>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 Personalised</a:t>
            </a:r>
            <a:endParaRPr lang="en-US" sz="2200" dirty="0"/>
          </a:p>
        </p:txBody>
      </p:sp>
      <p:sp>
        <p:nvSpPr>
          <p:cNvPr id="7" name="Text 4"/>
          <p:cNvSpPr/>
          <p:nvPr/>
        </p:nvSpPr>
        <p:spPr>
          <a:xfrm>
            <a:off x="6514624" y="4954786"/>
            <a:ext cx="3195876"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Tailored plans for every body and goal</a:t>
            </a:r>
            <a:endParaRPr lang="en-US" sz="1750" dirty="0"/>
          </a:p>
        </p:txBody>
      </p:sp>
      <p:sp>
        <p:nvSpPr>
          <p:cNvPr id="8" name="Shape 5"/>
          <p:cNvSpPr/>
          <p:nvPr/>
        </p:nvSpPr>
        <p:spPr>
          <a:xfrm>
            <a:off x="10171748" y="4222313"/>
            <a:ext cx="3664863" cy="1692712"/>
          </a:xfrm>
          <a:prstGeom prst="roundRect">
            <a:avLst>
              <a:gd name="adj" fmla="val 5628"/>
            </a:avLst>
          </a:prstGeom>
          <a:solidFill>
            <a:srgbClr val="E6DED2">
              <a:alpha val="50000"/>
            </a:srgbClr>
          </a:solidFill>
          <a:ln w="7620">
            <a:solidFill>
              <a:srgbClr val="CCC4B8"/>
            </a:solidFill>
            <a:prstDash val="solid"/>
          </a:ln>
          <a:effectLst>
            <a:outerShdw dist="29210" dir="2700000" algn="bl" rotWithShape="0">
              <a:srgbClr val="CCC4B8">
                <a:alpha val="100000"/>
              </a:srgbClr>
            </a:outerShdw>
          </a:effectLst>
        </p:spPr>
      </p:sp>
      <p:sp>
        <p:nvSpPr>
          <p:cNvPr id="9" name="Text 6"/>
          <p:cNvSpPr/>
          <p:nvPr/>
        </p:nvSpPr>
        <p:spPr>
          <a:xfrm>
            <a:off x="10406182" y="4456748"/>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 Data-Driven</a:t>
            </a:r>
            <a:endParaRPr lang="en-US" sz="2200" dirty="0"/>
          </a:p>
        </p:txBody>
      </p:sp>
      <p:sp>
        <p:nvSpPr>
          <p:cNvPr id="10" name="Text 7"/>
          <p:cNvSpPr/>
          <p:nvPr/>
        </p:nvSpPr>
        <p:spPr>
          <a:xfrm>
            <a:off x="10406182" y="4954786"/>
            <a:ext cx="3195995"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Insights powered by real-time tracking</a:t>
            </a:r>
            <a:endParaRPr lang="en-US" sz="1750" dirty="0"/>
          </a:p>
        </p:txBody>
      </p:sp>
      <p:sp>
        <p:nvSpPr>
          <p:cNvPr id="11" name="Shape 8"/>
          <p:cNvSpPr/>
          <p:nvPr/>
        </p:nvSpPr>
        <p:spPr>
          <a:xfrm>
            <a:off x="6280190" y="6141839"/>
            <a:ext cx="7556421" cy="1329809"/>
          </a:xfrm>
          <a:prstGeom prst="roundRect">
            <a:avLst>
              <a:gd name="adj" fmla="val 7164"/>
            </a:avLst>
          </a:prstGeom>
          <a:solidFill>
            <a:srgbClr val="E6DED2">
              <a:alpha val="50000"/>
            </a:srgbClr>
          </a:solidFill>
          <a:ln w="7620">
            <a:solidFill>
              <a:srgbClr val="CCC4B8"/>
            </a:solidFill>
            <a:prstDash val="solid"/>
          </a:ln>
          <a:effectLst>
            <a:outerShdw dist="29210" dir="2700000" algn="bl" rotWithShape="0">
              <a:srgbClr val="CCC4B8">
                <a:alpha val="100000"/>
              </a:srgbClr>
            </a:outerShdw>
          </a:effectLst>
        </p:spPr>
      </p:sp>
      <p:sp>
        <p:nvSpPr>
          <p:cNvPr id="12" name="Text 9"/>
          <p:cNvSpPr/>
          <p:nvPr/>
        </p:nvSpPr>
        <p:spPr>
          <a:xfrm>
            <a:off x="6514624" y="6376273"/>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 Accessible</a:t>
            </a:r>
            <a:endParaRPr lang="en-US" sz="2200" dirty="0"/>
          </a:p>
        </p:txBody>
      </p:sp>
      <p:sp>
        <p:nvSpPr>
          <p:cNvPr id="13" name="Text 10"/>
          <p:cNvSpPr/>
          <p:nvPr/>
        </p:nvSpPr>
        <p:spPr>
          <a:xfrm>
            <a:off x="6514624" y="6874312"/>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Fitness guidance for everyone, everywhere</a:t>
            </a:r>
            <a:endParaRPr lang="en-US" sz="1750" dirty="0"/>
          </a:p>
        </p:txBody>
      </p:sp>
      <p:pic>
        <p:nvPicPr>
          <p:cNvPr id="15" name="Picture 14">
            <a:extLst>
              <a:ext uri="{FF2B5EF4-FFF2-40B4-BE49-F238E27FC236}">
                <a16:creationId xmlns:a16="http://schemas.microsoft.com/office/drawing/2014/main" id="{60F86CB1-3A26-F2B2-0A97-C8A52E7EE57B}"/>
              </a:ext>
            </a:extLst>
          </p:cNvPr>
          <p:cNvPicPr>
            <a:picLocks noChangeAspect="1"/>
          </p:cNvPicPr>
          <p:nvPr/>
        </p:nvPicPr>
        <p:blipFill>
          <a:blip r:embed="rId4"/>
          <a:stretch>
            <a:fillRect/>
          </a:stretch>
        </p:blipFill>
        <p:spPr>
          <a:xfrm flipV="1">
            <a:off x="12822365" y="7607736"/>
            <a:ext cx="1808035" cy="5288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01460" y="532924"/>
            <a:ext cx="11833384" cy="553760"/>
          </a:xfrm>
          <a:prstGeom prst="rect">
            <a:avLst/>
          </a:prstGeom>
          <a:noFill/>
          <a:ln/>
        </p:spPr>
        <p:txBody>
          <a:bodyPr wrap="none" lIns="0" tIns="0" rIns="0" bIns="0" rtlCol="0" anchor="t"/>
          <a:lstStyle/>
          <a:p>
            <a:pPr marL="0" indent="0" algn="l">
              <a:lnSpc>
                <a:spcPts val="4350"/>
              </a:lnSpc>
              <a:buNone/>
            </a:pPr>
            <a:r>
              <a:rPr lang="en-US" sz="3450" dirty="0">
                <a:solidFill>
                  <a:srgbClr val="3A3A3A"/>
                </a:solidFill>
                <a:latin typeface="Noto Serif Medium" pitchFamily="34" charset="0"/>
                <a:ea typeface="Noto Serif Medium" pitchFamily="34" charset="-122"/>
                <a:cs typeface="Noto Serif Medium" pitchFamily="34" charset="-120"/>
              </a:rPr>
              <a:t>The Fitness Dilemma: Why Current Solutions Fall Short</a:t>
            </a:r>
            <a:endParaRPr lang="en-US" sz="3450" dirty="0"/>
          </a:p>
        </p:txBody>
      </p:sp>
      <p:pic>
        <p:nvPicPr>
          <p:cNvPr id="3" name="Image 0" descr="preencoded.png"/>
          <p:cNvPicPr>
            <a:picLocks noChangeAspect="1"/>
          </p:cNvPicPr>
          <p:nvPr/>
        </p:nvPicPr>
        <p:blipFill>
          <a:blip r:embed="rId3"/>
          <a:stretch>
            <a:fillRect/>
          </a:stretch>
        </p:blipFill>
        <p:spPr>
          <a:xfrm>
            <a:off x="1201460" y="1450062"/>
            <a:ext cx="7796451" cy="4417933"/>
          </a:xfrm>
          <a:prstGeom prst="rect">
            <a:avLst/>
          </a:prstGeom>
        </p:spPr>
      </p:pic>
      <p:sp>
        <p:nvSpPr>
          <p:cNvPr id="4" name="Text 1"/>
          <p:cNvSpPr/>
          <p:nvPr/>
        </p:nvSpPr>
        <p:spPr>
          <a:xfrm>
            <a:off x="9437727" y="3280410"/>
            <a:ext cx="3998595" cy="757238"/>
          </a:xfrm>
          <a:prstGeom prst="rect">
            <a:avLst/>
          </a:prstGeom>
          <a:noFill/>
          <a:ln/>
        </p:spPr>
        <p:txBody>
          <a:bodyPr wrap="square" lIns="0" tIns="0" rIns="0" bIns="0" rtlCol="0" anchor="t"/>
          <a:lstStyle/>
          <a:p>
            <a:pPr marL="0" indent="0" algn="l">
              <a:lnSpc>
                <a:spcPts val="1950"/>
              </a:lnSpc>
              <a:buNone/>
            </a:pPr>
            <a:r>
              <a:rPr lang="en-US" sz="1350" dirty="0">
                <a:solidFill>
                  <a:srgbClr val="4C4C4C"/>
                </a:solidFill>
                <a:latin typeface="Noto Serif" pitchFamily="34" charset="0"/>
                <a:ea typeface="Noto Serif" pitchFamily="34" charset="-122"/>
                <a:cs typeface="Noto Serif" pitchFamily="34" charset="-120"/>
              </a:rPr>
              <a:t>Despite a surge in fitness apps and platforms, most users struggle to stay consistent. The problem isn't motivation — it's the tools.</a:t>
            </a:r>
            <a:endParaRPr lang="en-US" sz="1350" dirty="0"/>
          </a:p>
        </p:txBody>
      </p:sp>
      <p:sp>
        <p:nvSpPr>
          <p:cNvPr id="5" name="Shape 2"/>
          <p:cNvSpPr/>
          <p:nvPr/>
        </p:nvSpPr>
        <p:spPr>
          <a:xfrm>
            <a:off x="1201460" y="6179463"/>
            <a:ext cx="3983474" cy="1517094"/>
          </a:xfrm>
          <a:prstGeom prst="roundRect">
            <a:avLst>
              <a:gd name="adj" fmla="val 7233"/>
            </a:avLst>
          </a:prstGeom>
          <a:solidFill>
            <a:srgbClr val="FDFBF7"/>
          </a:solidFill>
          <a:ln w="22860">
            <a:solidFill>
              <a:srgbClr val="E6DED2"/>
            </a:solidFill>
            <a:prstDash val="solid"/>
          </a:ln>
          <a:effectLst>
            <a:outerShdw dist="22860" dir="2700000" algn="bl" rotWithShape="0">
              <a:srgbClr val="E6DED2">
                <a:alpha val="100000"/>
              </a:srgbClr>
            </a:outerShdw>
          </a:effectLst>
        </p:spPr>
      </p:sp>
      <p:sp>
        <p:nvSpPr>
          <p:cNvPr id="6" name="Shape 3"/>
          <p:cNvSpPr/>
          <p:nvPr/>
        </p:nvSpPr>
        <p:spPr>
          <a:xfrm>
            <a:off x="1178600" y="6179463"/>
            <a:ext cx="91440" cy="1517094"/>
          </a:xfrm>
          <a:prstGeom prst="roundRect">
            <a:avLst>
              <a:gd name="adj" fmla="val 81395"/>
            </a:avLst>
          </a:prstGeom>
          <a:solidFill>
            <a:srgbClr val="E6DED2"/>
          </a:solidFill>
          <a:ln/>
        </p:spPr>
      </p:sp>
      <p:sp>
        <p:nvSpPr>
          <p:cNvPr id="7" name="Text 4"/>
          <p:cNvSpPr/>
          <p:nvPr/>
        </p:nvSpPr>
        <p:spPr>
          <a:xfrm>
            <a:off x="1470065" y="6379488"/>
            <a:ext cx="2506266" cy="276820"/>
          </a:xfrm>
          <a:prstGeom prst="rect">
            <a:avLst/>
          </a:prstGeom>
          <a:noFill/>
          <a:ln/>
        </p:spPr>
        <p:txBody>
          <a:bodyPr wrap="none" lIns="0" tIns="0" rIns="0" bIns="0" rtlCol="0" anchor="t"/>
          <a:lstStyle/>
          <a:p>
            <a:pPr marL="0" indent="0" algn="l">
              <a:lnSpc>
                <a:spcPts val="2150"/>
              </a:lnSpc>
              <a:buNone/>
            </a:pPr>
            <a:r>
              <a:rPr lang="en-US" sz="1700" dirty="0">
                <a:solidFill>
                  <a:srgbClr val="4C4C4C"/>
                </a:solidFill>
                <a:latin typeface="Noto Serif Medium" pitchFamily="34" charset="0"/>
                <a:ea typeface="Noto Serif Medium" pitchFamily="34" charset="-122"/>
                <a:cs typeface="Noto Serif Medium" pitchFamily="34" charset="-120"/>
              </a:rPr>
              <a:t>Lack of Personalisation</a:t>
            </a:r>
            <a:endParaRPr lang="en-US" sz="1700" dirty="0"/>
          </a:p>
        </p:txBody>
      </p:sp>
      <p:sp>
        <p:nvSpPr>
          <p:cNvPr id="8" name="Text 5"/>
          <p:cNvSpPr/>
          <p:nvPr/>
        </p:nvSpPr>
        <p:spPr>
          <a:xfrm>
            <a:off x="1470065" y="6739295"/>
            <a:ext cx="3514844" cy="504825"/>
          </a:xfrm>
          <a:prstGeom prst="rect">
            <a:avLst/>
          </a:prstGeom>
          <a:noFill/>
          <a:ln/>
        </p:spPr>
        <p:txBody>
          <a:bodyPr wrap="square" lIns="0" tIns="0" rIns="0" bIns="0" rtlCol="0" anchor="t"/>
          <a:lstStyle/>
          <a:p>
            <a:pPr marL="0" indent="0" algn="l">
              <a:lnSpc>
                <a:spcPts val="1950"/>
              </a:lnSpc>
              <a:buNone/>
            </a:pPr>
            <a:r>
              <a:rPr lang="en-US" sz="1350" dirty="0">
                <a:solidFill>
                  <a:srgbClr val="4C4C4C"/>
                </a:solidFill>
                <a:latin typeface="Noto Serif" pitchFamily="34" charset="0"/>
                <a:ea typeface="Noto Serif" pitchFamily="34" charset="-122"/>
                <a:cs typeface="Noto Serif" pitchFamily="34" charset="-120"/>
              </a:rPr>
              <a:t>Generic plans ignore individual fitness levels, goals, and limitations.</a:t>
            </a:r>
            <a:endParaRPr lang="en-US" sz="1350" dirty="0"/>
          </a:p>
        </p:txBody>
      </p:sp>
      <p:sp>
        <p:nvSpPr>
          <p:cNvPr id="9" name="Shape 6"/>
          <p:cNvSpPr/>
          <p:nvPr/>
        </p:nvSpPr>
        <p:spPr>
          <a:xfrm>
            <a:off x="5323284" y="6179463"/>
            <a:ext cx="3983593" cy="1517094"/>
          </a:xfrm>
          <a:prstGeom prst="roundRect">
            <a:avLst>
              <a:gd name="adj" fmla="val 7233"/>
            </a:avLst>
          </a:prstGeom>
          <a:solidFill>
            <a:srgbClr val="FDFBF7"/>
          </a:solidFill>
          <a:ln w="22860">
            <a:solidFill>
              <a:srgbClr val="E6DED2"/>
            </a:solidFill>
            <a:prstDash val="solid"/>
          </a:ln>
          <a:effectLst>
            <a:outerShdw dist="22860" dir="2700000" algn="bl" rotWithShape="0">
              <a:srgbClr val="E6DED2">
                <a:alpha val="100000"/>
              </a:srgbClr>
            </a:outerShdw>
          </a:effectLst>
        </p:spPr>
      </p:sp>
      <p:sp>
        <p:nvSpPr>
          <p:cNvPr id="10" name="Shape 7"/>
          <p:cNvSpPr/>
          <p:nvPr/>
        </p:nvSpPr>
        <p:spPr>
          <a:xfrm>
            <a:off x="5300424" y="6179463"/>
            <a:ext cx="91440" cy="1517094"/>
          </a:xfrm>
          <a:prstGeom prst="roundRect">
            <a:avLst>
              <a:gd name="adj" fmla="val 81395"/>
            </a:avLst>
          </a:prstGeom>
          <a:solidFill>
            <a:srgbClr val="E6DED2"/>
          </a:solidFill>
          <a:ln/>
        </p:spPr>
      </p:sp>
      <p:sp>
        <p:nvSpPr>
          <p:cNvPr id="11" name="Text 8"/>
          <p:cNvSpPr/>
          <p:nvPr/>
        </p:nvSpPr>
        <p:spPr>
          <a:xfrm>
            <a:off x="5591889" y="6379488"/>
            <a:ext cx="2491383" cy="276820"/>
          </a:xfrm>
          <a:prstGeom prst="rect">
            <a:avLst/>
          </a:prstGeom>
          <a:noFill/>
          <a:ln/>
        </p:spPr>
        <p:txBody>
          <a:bodyPr wrap="none" lIns="0" tIns="0" rIns="0" bIns="0" rtlCol="0" anchor="t"/>
          <a:lstStyle/>
          <a:p>
            <a:pPr marL="0" indent="0" algn="l">
              <a:lnSpc>
                <a:spcPts val="2150"/>
              </a:lnSpc>
              <a:buNone/>
            </a:pPr>
            <a:r>
              <a:rPr lang="en-US" sz="1700" dirty="0">
                <a:solidFill>
                  <a:srgbClr val="4C4C4C"/>
                </a:solidFill>
                <a:latin typeface="Noto Serif Medium" pitchFamily="34" charset="0"/>
                <a:ea typeface="Noto Serif Medium" pitchFamily="34" charset="-122"/>
                <a:cs typeface="Noto Serif Medium" pitchFamily="34" charset="-120"/>
              </a:rPr>
              <a:t>Poor Progress Tracking</a:t>
            </a:r>
            <a:endParaRPr lang="en-US" sz="1700" dirty="0"/>
          </a:p>
        </p:txBody>
      </p:sp>
      <p:sp>
        <p:nvSpPr>
          <p:cNvPr id="12" name="Text 9"/>
          <p:cNvSpPr/>
          <p:nvPr/>
        </p:nvSpPr>
        <p:spPr>
          <a:xfrm>
            <a:off x="5591889" y="6739295"/>
            <a:ext cx="3514963" cy="504825"/>
          </a:xfrm>
          <a:prstGeom prst="rect">
            <a:avLst/>
          </a:prstGeom>
          <a:noFill/>
          <a:ln/>
        </p:spPr>
        <p:txBody>
          <a:bodyPr wrap="square" lIns="0" tIns="0" rIns="0" bIns="0" rtlCol="0" anchor="t"/>
          <a:lstStyle/>
          <a:p>
            <a:pPr marL="0" indent="0" algn="l">
              <a:lnSpc>
                <a:spcPts val="1950"/>
              </a:lnSpc>
              <a:buNone/>
            </a:pPr>
            <a:r>
              <a:rPr lang="en-US" sz="1350" dirty="0">
                <a:solidFill>
                  <a:srgbClr val="4C4C4C"/>
                </a:solidFill>
                <a:latin typeface="Noto Serif" pitchFamily="34" charset="0"/>
                <a:ea typeface="Noto Serif" pitchFamily="34" charset="-122"/>
                <a:cs typeface="Noto Serif" pitchFamily="34" charset="-120"/>
              </a:rPr>
              <a:t>Fragmented data makes it hard to see real improvement over time.</a:t>
            </a:r>
            <a:endParaRPr lang="en-US" sz="1350" dirty="0"/>
          </a:p>
        </p:txBody>
      </p:sp>
      <p:sp>
        <p:nvSpPr>
          <p:cNvPr id="13" name="Shape 10"/>
          <p:cNvSpPr/>
          <p:nvPr/>
        </p:nvSpPr>
        <p:spPr>
          <a:xfrm>
            <a:off x="9445228" y="6179463"/>
            <a:ext cx="3983474" cy="1517094"/>
          </a:xfrm>
          <a:prstGeom prst="roundRect">
            <a:avLst>
              <a:gd name="adj" fmla="val 7233"/>
            </a:avLst>
          </a:prstGeom>
          <a:solidFill>
            <a:srgbClr val="FDFBF7"/>
          </a:solidFill>
          <a:ln w="22860">
            <a:solidFill>
              <a:srgbClr val="E6DED2"/>
            </a:solidFill>
            <a:prstDash val="solid"/>
          </a:ln>
          <a:effectLst>
            <a:outerShdw dist="22860" dir="2700000" algn="bl" rotWithShape="0">
              <a:srgbClr val="E6DED2">
                <a:alpha val="100000"/>
              </a:srgbClr>
            </a:outerShdw>
          </a:effectLst>
        </p:spPr>
      </p:sp>
      <p:sp>
        <p:nvSpPr>
          <p:cNvPr id="14" name="Shape 11"/>
          <p:cNvSpPr/>
          <p:nvPr/>
        </p:nvSpPr>
        <p:spPr>
          <a:xfrm>
            <a:off x="9422368" y="6179463"/>
            <a:ext cx="91440" cy="1517094"/>
          </a:xfrm>
          <a:prstGeom prst="roundRect">
            <a:avLst>
              <a:gd name="adj" fmla="val 81395"/>
            </a:avLst>
          </a:prstGeom>
          <a:solidFill>
            <a:srgbClr val="E6DED2"/>
          </a:solidFill>
          <a:ln/>
        </p:spPr>
      </p:sp>
      <p:sp>
        <p:nvSpPr>
          <p:cNvPr id="15" name="Text 12"/>
          <p:cNvSpPr/>
          <p:nvPr/>
        </p:nvSpPr>
        <p:spPr>
          <a:xfrm>
            <a:off x="9713833" y="6379488"/>
            <a:ext cx="2285762" cy="276820"/>
          </a:xfrm>
          <a:prstGeom prst="rect">
            <a:avLst/>
          </a:prstGeom>
          <a:noFill/>
          <a:ln/>
        </p:spPr>
        <p:txBody>
          <a:bodyPr wrap="none" lIns="0" tIns="0" rIns="0" bIns="0" rtlCol="0" anchor="t"/>
          <a:lstStyle/>
          <a:p>
            <a:pPr marL="0" indent="0" algn="l">
              <a:lnSpc>
                <a:spcPts val="2150"/>
              </a:lnSpc>
              <a:buNone/>
            </a:pPr>
            <a:r>
              <a:rPr lang="en-US" sz="1700" dirty="0">
                <a:solidFill>
                  <a:srgbClr val="4C4C4C"/>
                </a:solidFill>
                <a:latin typeface="Noto Serif Medium" pitchFamily="34" charset="0"/>
                <a:ea typeface="Noto Serif Medium" pitchFamily="34" charset="-122"/>
                <a:cs typeface="Noto Serif Medium" pitchFamily="34" charset="-120"/>
              </a:rPr>
              <a:t>No Holistic Approach</a:t>
            </a:r>
            <a:endParaRPr lang="en-US" sz="1700" dirty="0"/>
          </a:p>
        </p:txBody>
      </p:sp>
      <p:sp>
        <p:nvSpPr>
          <p:cNvPr id="16" name="Text 13"/>
          <p:cNvSpPr/>
          <p:nvPr/>
        </p:nvSpPr>
        <p:spPr>
          <a:xfrm>
            <a:off x="9713833" y="6739295"/>
            <a:ext cx="3514844" cy="757238"/>
          </a:xfrm>
          <a:prstGeom prst="rect">
            <a:avLst/>
          </a:prstGeom>
          <a:noFill/>
          <a:ln/>
        </p:spPr>
        <p:txBody>
          <a:bodyPr wrap="square" lIns="0" tIns="0" rIns="0" bIns="0" rtlCol="0" anchor="t"/>
          <a:lstStyle/>
          <a:p>
            <a:pPr marL="0" indent="0" algn="l">
              <a:lnSpc>
                <a:spcPts val="1950"/>
              </a:lnSpc>
              <a:buNone/>
            </a:pPr>
            <a:r>
              <a:rPr lang="en-US" sz="1350" dirty="0">
                <a:solidFill>
                  <a:srgbClr val="4C4C4C"/>
                </a:solidFill>
                <a:latin typeface="Noto Serif" pitchFamily="34" charset="0"/>
                <a:ea typeface="Noto Serif" pitchFamily="34" charset="-122"/>
                <a:cs typeface="Noto Serif" pitchFamily="34" charset="-120"/>
              </a:rPr>
              <a:t>Most apps focus on workouts alone, neglecting nutrition, sleep, and mental wellness.</a:t>
            </a:r>
            <a:endParaRPr lang="en-US" sz="1350" dirty="0"/>
          </a:p>
        </p:txBody>
      </p:sp>
      <p:pic>
        <p:nvPicPr>
          <p:cNvPr id="18" name="Picture 17">
            <a:extLst>
              <a:ext uri="{FF2B5EF4-FFF2-40B4-BE49-F238E27FC236}">
                <a16:creationId xmlns:a16="http://schemas.microsoft.com/office/drawing/2014/main" id="{62D6ED52-2B4E-8C03-E633-716A930AEA7B}"/>
              </a:ext>
            </a:extLst>
          </p:cNvPr>
          <p:cNvPicPr>
            <a:picLocks noChangeAspect="1"/>
          </p:cNvPicPr>
          <p:nvPr/>
        </p:nvPicPr>
        <p:blipFill>
          <a:blip r:embed="rId4"/>
          <a:stretch>
            <a:fillRect/>
          </a:stretch>
        </p:blipFill>
        <p:spPr>
          <a:xfrm>
            <a:off x="11830050" y="7779543"/>
            <a:ext cx="2800350" cy="3693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94214" y="534233"/>
            <a:ext cx="7928372" cy="1085374"/>
          </a:xfrm>
          <a:prstGeom prst="rect">
            <a:avLst/>
          </a:prstGeom>
          <a:noFill/>
          <a:ln/>
        </p:spPr>
        <p:txBody>
          <a:bodyPr wrap="square" lIns="0" tIns="0" rIns="0" bIns="0" rtlCol="0" anchor="t"/>
          <a:lstStyle/>
          <a:p>
            <a:pPr marL="0" indent="0" algn="l">
              <a:lnSpc>
                <a:spcPts val="4250"/>
              </a:lnSpc>
              <a:buNone/>
            </a:pPr>
            <a:r>
              <a:rPr lang="en-US" sz="3400" dirty="0">
                <a:solidFill>
                  <a:srgbClr val="3A3A3A"/>
                </a:solidFill>
                <a:latin typeface="Noto Serif Medium" pitchFamily="34" charset="0"/>
                <a:ea typeface="Noto Serif Medium" pitchFamily="34" charset="-122"/>
                <a:cs typeface="Noto Serif Medium" pitchFamily="34" charset="-120"/>
              </a:rPr>
              <a:t>Introducing Fitlife: A Smarter Approach to Wellness</a:t>
            </a:r>
            <a:endParaRPr lang="en-US" sz="3400" dirty="0"/>
          </a:p>
        </p:txBody>
      </p:sp>
      <p:sp>
        <p:nvSpPr>
          <p:cNvPr id="4" name="Text 1"/>
          <p:cNvSpPr/>
          <p:nvPr/>
        </p:nvSpPr>
        <p:spPr>
          <a:xfrm>
            <a:off x="6094214" y="1819037"/>
            <a:ext cx="7928372" cy="490538"/>
          </a:xfrm>
          <a:prstGeom prst="rect">
            <a:avLst/>
          </a:prstGeom>
          <a:noFill/>
          <a:ln/>
        </p:spPr>
        <p:txBody>
          <a:bodyPr wrap="square" lIns="0" tIns="0" rIns="0" bIns="0" rtlCol="0" anchor="t"/>
          <a:lstStyle/>
          <a:p>
            <a:pPr marL="0" indent="0" algn="l">
              <a:lnSpc>
                <a:spcPts val="1900"/>
              </a:lnSpc>
              <a:buNone/>
            </a:pPr>
            <a:r>
              <a:rPr lang="en-US" sz="1350" dirty="0">
                <a:solidFill>
                  <a:srgbClr val="4C4C4C"/>
                </a:solidFill>
                <a:latin typeface="Noto Serif" pitchFamily="34" charset="0"/>
                <a:ea typeface="Noto Serif" pitchFamily="34" charset="-122"/>
                <a:cs typeface="Noto Serif" pitchFamily="34" charset="-120"/>
              </a:rPr>
              <a:t>Fitlife is an end-to-end fitness companion that unifies workout planning, nutrition tracking, progress analytics, and community support into one seamless experience.</a:t>
            </a:r>
            <a:endParaRPr lang="en-US" sz="13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4214" y="2459117"/>
            <a:ext cx="347305" cy="347305"/>
          </a:xfrm>
          <a:prstGeom prst="rect">
            <a:avLst/>
          </a:prstGeom>
        </p:spPr>
      </p:pic>
      <p:sp>
        <p:nvSpPr>
          <p:cNvPr id="6" name="Text 2"/>
          <p:cNvSpPr/>
          <p:nvPr/>
        </p:nvSpPr>
        <p:spPr>
          <a:xfrm>
            <a:off x="6094214" y="2972514"/>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4C4C4C"/>
                </a:solidFill>
                <a:latin typeface="Noto Serif Medium" pitchFamily="34" charset="0"/>
                <a:ea typeface="Noto Serif Medium" pitchFamily="34" charset="-122"/>
                <a:cs typeface="Noto Serif Medium" pitchFamily="34" charset="-120"/>
              </a:rPr>
              <a:t>Smart Workouts</a:t>
            </a:r>
            <a:endParaRPr lang="en-US" sz="1700" dirty="0"/>
          </a:p>
        </p:txBody>
      </p:sp>
      <p:sp>
        <p:nvSpPr>
          <p:cNvPr id="7" name="Text 3"/>
          <p:cNvSpPr/>
          <p:nvPr/>
        </p:nvSpPr>
        <p:spPr>
          <a:xfrm>
            <a:off x="6094214" y="3323511"/>
            <a:ext cx="7928372" cy="245269"/>
          </a:xfrm>
          <a:prstGeom prst="rect">
            <a:avLst/>
          </a:prstGeom>
          <a:noFill/>
          <a:ln/>
        </p:spPr>
        <p:txBody>
          <a:bodyPr wrap="none" lIns="0" tIns="0" rIns="0" bIns="0" rtlCol="0" anchor="t"/>
          <a:lstStyle/>
          <a:p>
            <a:pPr marL="0" indent="0" algn="l">
              <a:lnSpc>
                <a:spcPts val="1900"/>
              </a:lnSpc>
              <a:buNone/>
            </a:pPr>
            <a:r>
              <a:rPr lang="en-US" sz="1350" dirty="0">
                <a:solidFill>
                  <a:srgbClr val="4C4C4C"/>
                </a:solidFill>
                <a:latin typeface="Noto Serif" pitchFamily="34" charset="0"/>
                <a:ea typeface="Noto Serif" pitchFamily="34" charset="-122"/>
                <a:cs typeface="Noto Serif" pitchFamily="34" charset="-120"/>
              </a:rPr>
              <a:t>AI-generated routines adapted to your fitness level and schedule.</a:t>
            </a:r>
            <a:endParaRPr lang="en-US" sz="13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4214" y="3834646"/>
            <a:ext cx="347305" cy="347305"/>
          </a:xfrm>
          <a:prstGeom prst="rect">
            <a:avLst/>
          </a:prstGeom>
        </p:spPr>
      </p:pic>
      <p:sp>
        <p:nvSpPr>
          <p:cNvPr id="9" name="Text 4"/>
          <p:cNvSpPr/>
          <p:nvPr/>
        </p:nvSpPr>
        <p:spPr>
          <a:xfrm>
            <a:off x="6094214" y="4348043"/>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4C4C4C"/>
                </a:solidFill>
                <a:latin typeface="Noto Serif Medium" pitchFamily="34" charset="0"/>
                <a:ea typeface="Noto Serif Medium" pitchFamily="34" charset="-122"/>
                <a:cs typeface="Noto Serif Medium" pitchFamily="34" charset="-120"/>
              </a:rPr>
              <a:t>Nutrition Tracking</a:t>
            </a:r>
            <a:endParaRPr lang="en-US" sz="1700" dirty="0"/>
          </a:p>
        </p:txBody>
      </p:sp>
      <p:sp>
        <p:nvSpPr>
          <p:cNvPr id="10" name="Text 5"/>
          <p:cNvSpPr/>
          <p:nvPr/>
        </p:nvSpPr>
        <p:spPr>
          <a:xfrm>
            <a:off x="6094214" y="4699040"/>
            <a:ext cx="7928372" cy="245269"/>
          </a:xfrm>
          <a:prstGeom prst="rect">
            <a:avLst/>
          </a:prstGeom>
          <a:noFill/>
          <a:ln/>
        </p:spPr>
        <p:txBody>
          <a:bodyPr wrap="none" lIns="0" tIns="0" rIns="0" bIns="0" rtlCol="0" anchor="t"/>
          <a:lstStyle/>
          <a:p>
            <a:pPr marL="0" indent="0" algn="l">
              <a:lnSpc>
                <a:spcPts val="1900"/>
              </a:lnSpc>
              <a:buNone/>
            </a:pPr>
            <a:r>
              <a:rPr lang="en-US" sz="1350" dirty="0">
                <a:solidFill>
                  <a:srgbClr val="4C4C4C"/>
                </a:solidFill>
                <a:latin typeface="Noto Serif" pitchFamily="34" charset="0"/>
                <a:ea typeface="Noto Serif" pitchFamily="34" charset="-122"/>
                <a:cs typeface="Noto Serif" pitchFamily="34" charset="-120"/>
              </a:rPr>
              <a:t>Log meals, track macros, and get personalised dietary recommendations.</a:t>
            </a:r>
            <a:endParaRPr lang="en-US" sz="13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4214" y="5210175"/>
            <a:ext cx="347305" cy="347305"/>
          </a:xfrm>
          <a:prstGeom prst="rect">
            <a:avLst/>
          </a:prstGeom>
        </p:spPr>
      </p:pic>
      <p:sp>
        <p:nvSpPr>
          <p:cNvPr id="12" name="Text 6"/>
          <p:cNvSpPr/>
          <p:nvPr/>
        </p:nvSpPr>
        <p:spPr>
          <a:xfrm>
            <a:off x="6094214" y="5723573"/>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4C4C4C"/>
                </a:solidFill>
                <a:latin typeface="Noto Serif Medium" pitchFamily="34" charset="0"/>
                <a:ea typeface="Noto Serif Medium" pitchFamily="34" charset="-122"/>
                <a:cs typeface="Noto Serif Medium" pitchFamily="34" charset="-120"/>
              </a:rPr>
              <a:t>Progress Analytics</a:t>
            </a:r>
            <a:endParaRPr lang="en-US" sz="1700" dirty="0"/>
          </a:p>
        </p:txBody>
      </p:sp>
      <p:sp>
        <p:nvSpPr>
          <p:cNvPr id="13" name="Text 7"/>
          <p:cNvSpPr/>
          <p:nvPr/>
        </p:nvSpPr>
        <p:spPr>
          <a:xfrm>
            <a:off x="6094214" y="6074569"/>
            <a:ext cx="7928372" cy="245269"/>
          </a:xfrm>
          <a:prstGeom prst="rect">
            <a:avLst/>
          </a:prstGeom>
          <a:noFill/>
          <a:ln/>
        </p:spPr>
        <p:txBody>
          <a:bodyPr wrap="none" lIns="0" tIns="0" rIns="0" bIns="0" rtlCol="0" anchor="t"/>
          <a:lstStyle/>
          <a:p>
            <a:pPr marL="0" indent="0" algn="l">
              <a:lnSpc>
                <a:spcPts val="1900"/>
              </a:lnSpc>
              <a:buNone/>
            </a:pPr>
            <a:r>
              <a:rPr lang="en-US" sz="1350" dirty="0">
                <a:solidFill>
                  <a:srgbClr val="4C4C4C"/>
                </a:solidFill>
                <a:latin typeface="Noto Serif" pitchFamily="34" charset="0"/>
                <a:ea typeface="Noto Serif" pitchFamily="34" charset="-122"/>
                <a:cs typeface="Noto Serif" pitchFamily="34" charset="-120"/>
              </a:rPr>
              <a:t>Visual dashboards that celebrate every milestone and highlight areas to improve.</a:t>
            </a:r>
            <a:endParaRPr lang="en-US" sz="13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4214" y="6585704"/>
            <a:ext cx="347305" cy="347305"/>
          </a:xfrm>
          <a:prstGeom prst="rect">
            <a:avLst/>
          </a:prstGeom>
        </p:spPr>
      </p:pic>
      <p:sp>
        <p:nvSpPr>
          <p:cNvPr id="15" name="Text 8"/>
          <p:cNvSpPr/>
          <p:nvPr/>
        </p:nvSpPr>
        <p:spPr>
          <a:xfrm>
            <a:off x="6094214" y="7099102"/>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4C4C4C"/>
                </a:solidFill>
                <a:latin typeface="Noto Serif Medium" pitchFamily="34" charset="0"/>
                <a:ea typeface="Noto Serif Medium" pitchFamily="34" charset="-122"/>
                <a:cs typeface="Noto Serif Medium" pitchFamily="34" charset="-120"/>
              </a:rPr>
              <a:t>Community Hub</a:t>
            </a:r>
            <a:endParaRPr lang="en-US" sz="1700" dirty="0"/>
          </a:p>
        </p:txBody>
      </p:sp>
      <p:sp>
        <p:nvSpPr>
          <p:cNvPr id="16" name="Text 9"/>
          <p:cNvSpPr/>
          <p:nvPr/>
        </p:nvSpPr>
        <p:spPr>
          <a:xfrm>
            <a:off x="6094214" y="7450098"/>
            <a:ext cx="7928372" cy="245269"/>
          </a:xfrm>
          <a:prstGeom prst="rect">
            <a:avLst/>
          </a:prstGeom>
          <a:noFill/>
          <a:ln/>
        </p:spPr>
        <p:txBody>
          <a:bodyPr wrap="none" lIns="0" tIns="0" rIns="0" bIns="0" rtlCol="0" anchor="t"/>
          <a:lstStyle/>
          <a:p>
            <a:pPr marL="0" indent="0" algn="l">
              <a:lnSpc>
                <a:spcPts val="1900"/>
              </a:lnSpc>
              <a:buNone/>
            </a:pPr>
            <a:r>
              <a:rPr lang="en-US" sz="1350" dirty="0">
                <a:solidFill>
                  <a:srgbClr val="4C4C4C"/>
                </a:solidFill>
                <a:latin typeface="Noto Serif" pitchFamily="34" charset="0"/>
                <a:ea typeface="Noto Serif" pitchFamily="34" charset="-122"/>
                <a:cs typeface="Noto Serif" pitchFamily="34" charset="-120"/>
              </a:rPr>
              <a:t>Connect with like-minded individuals, join challenges, and stay accountable.</a:t>
            </a:r>
            <a:endParaRPr lang="en-US" sz="1350" dirty="0"/>
          </a:p>
        </p:txBody>
      </p:sp>
      <p:pic>
        <p:nvPicPr>
          <p:cNvPr id="18" name="Picture 17">
            <a:extLst>
              <a:ext uri="{FF2B5EF4-FFF2-40B4-BE49-F238E27FC236}">
                <a16:creationId xmlns:a16="http://schemas.microsoft.com/office/drawing/2014/main" id="{6F96CF7C-79B9-B7C2-F639-962923597D38}"/>
              </a:ext>
            </a:extLst>
          </p:cNvPr>
          <p:cNvPicPr>
            <a:picLocks noChangeAspect="1"/>
          </p:cNvPicPr>
          <p:nvPr/>
        </p:nvPicPr>
        <p:blipFill>
          <a:blip r:embed="rId8"/>
          <a:stretch>
            <a:fillRect/>
          </a:stretch>
        </p:blipFill>
        <p:spPr>
          <a:xfrm>
            <a:off x="12758056" y="7370326"/>
            <a:ext cx="1872343" cy="819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00827"/>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Our Core Objectives: What Fitlife Aims to Achieve</a:t>
            </a:r>
            <a:endParaRPr lang="en-US" sz="4450" dirty="0"/>
          </a:p>
        </p:txBody>
      </p:sp>
      <p:pic>
        <p:nvPicPr>
          <p:cNvPr id="3" name="Image 0" descr="preencoded.png"/>
          <p:cNvPicPr>
            <a:picLocks noChangeAspect="1"/>
          </p:cNvPicPr>
          <p:nvPr/>
        </p:nvPicPr>
        <p:blipFill>
          <a:blip r:embed="rId3"/>
          <a:stretch>
            <a:fillRect/>
          </a:stretch>
        </p:blipFill>
        <p:spPr>
          <a:xfrm>
            <a:off x="793790" y="2772013"/>
            <a:ext cx="13042821" cy="3575804"/>
          </a:xfrm>
          <a:prstGeom prst="rect">
            <a:avLst/>
          </a:prstGeom>
        </p:spPr>
      </p:pic>
      <p:sp>
        <p:nvSpPr>
          <p:cNvPr id="4" name="Text 1"/>
          <p:cNvSpPr/>
          <p:nvPr/>
        </p:nvSpPr>
        <p:spPr>
          <a:xfrm>
            <a:off x="2366066" y="4064137"/>
            <a:ext cx="1970959" cy="705804"/>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Personalised Plans</a:t>
            </a:r>
            <a:endParaRPr lang="en-US" sz="2200" dirty="0"/>
          </a:p>
        </p:txBody>
      </p:sp>
      <p:sp>
        <p:nvSpPr>
          <p:cNvPr id="5" name="Text 2"/>
          <p:cNvSpPr/>
          <p:nvPr/>
        </p:nvSpPr>
        <p:spPr>
          <a:xfrm>
            <a:off x="2366066" y="4870322"/>
            <a:ext cx="1970959" cy="846965"/>
          </a:xfrm>
          <a:prstGeom prst="rect">
            <a:avLst/>
          </a:prstGeom>
          <a:noFill/>
          <a:ln/>
        </p:spPr>
        <p:txBody>
          <a:bodyPr wrap="square" lIns="0" tIns="0" rIns="0" bIns="0" rtlCol="0" anchor="t"/>
          <a:lstStyle/>
          <a:p>
            <a:pPr marL="0" indent="0" algn="ctr">
              <a:lnSpc>
                <a:spcPts val="2200"/>
              </a:lnSpc>
              <a:buNone/>
            </a:pPr>
            <a:r>
              <a:rPr lang="en-US" sz="1750" dirty="0">
                <a:solidFill>
                  <a:srgbClr val="4C4C4C"/>
                </a:solidFill>
                <a:latin typeface="Noto Serif" pitchFamily="34" charset="0"/>
                <a:ea typeface="Noto Serif" pitchFamily="34" charset="-122"/>
                <a:cs typeface="Noto Serif" pitchFamily="34" charset="-120"/>
              </a:rPr>
              <a:t>Empower users with tailored programs</a:t>
            </a:r>
            <a:endParaRPr lang="en-US" sz="1750" dirty="0"/>
          </a:p>
        </p:txBody>
      </p:sp>
      <p:sp>
        <p:nvSpPr>
          <p:cNvPr id="6" name="Text 3"/>
          <p:cNvSpPr/>
          <p:nvPr/>
        </p:nvSpPr>
        <p:spPr>
          <a:xfrm>
            <a:off x="5026164" y="3810047"/>
            <a:ext cx="1970959" cy="705804"/>
          </a:xfrm>
          <a:prstGeom prst="rect">
            <a:avLst/>
          </a:prstGeom>
          <a:noFill/>
          <a:ln/>
        </p:spPr>
        <p:txBody>
          <a:bodyPr wrap="square" lIns="0" tIns="0" rIns="0" bIns="0" rtlCol="0" anchor="t"/>
          <a:lstStyle/>
          <a:p>
            <a:pPr marL="0" indent="0" algn="ctr">
              <a:lnSpc>
                <a:spcPts val="2750"/>
              </a:lnSpc>
              <a:buNone/>
            </a:pPr>
            <a:r>
              <a:rPr lang="en-US" sz="2200" dirty="0">
                <a:solidFill>
                  <a:srgbClr val="3A3A3A"/>
                </a:solidFill>
                <a:latin typeface="Noto Serif Medium" pitchFamily="34" charset="0"/>
                <a:ea typeface="Noto Serif Medium" pitchFamily="34" charset="-122"/>
                <a:cs typeface="Noto Serif Medium" pitchFamily="34" charset="-120"/>
              </a:rPr>
              <a:t>Simplified Tracking</a:t>
            </a:r>
            <a:endParaRPr lang="en-US" sz="2200" dirty="0"/>
          </a:p>
        </p:txBody>
      </p:sp>
      <p:sp>
        <p:nvSpPr>
          <p:cNvPr id="7" name="Text 4"/>
          <p:cNvSpPr/>
          <p:nvPr/>
        </p:nvSpPr>
        <p:spPr>
          <a:xfrm>
            <a:off x="5026164" y="4616233"/>
            <a:ext cx="1970959" cy="564644"/>
          </a:xfrm>
          <a:prstGeom prst="rect">
            <a:avLst/>
          </a:prstGeom>
          <a:noFill/>
          <a:ln/>
        </p:spPr>
        <p:txBody>
          <a:bodyPr wrap="square" lIns="0" tIns="0" rIns="0" bIns="0" rtlCol="0" anchor="t"/>
          <a:lstStyle/>
          <a:p>
            <a:pPr marL="0" indent="0" algn="ctr">
              <a:lnSpc>
                <a:spcPts val="2200"/>
              </a:lnSpc>
              <a:buNone/>
            </a:pPr>
            <a:r>
              <a:rPr lang="en-US" sz="1750" dirty="0">
                <a:solidFill>
                  <a:srgbClr val="4C4C4C"/>
                </a:solidFill>
                <a:latin typeface="Noto Serif" pitchFamily="34" charset="0"/>
                <a:ea typeface="Noto Serif" pitchFamily="34" charset="-122"/>
                <a:cs typeface="Noto Serif" pitchFamily="34" charset="-120"/>
              </a:rPr>
              <a:t>Make health logging effortless</a:t>
            </a:r>
            <a:endParaRPr lang="en-US" sz="1750" dirty="0"/>
          </a:p>
        </p:txBody>
      </p:sp>
      <p:sp>
        <p:nvSpPr>
          <p:cNvPr id="8" name="Text 5"/>
          <p:cNvSpPr/>
          <p:nvPr/>
        </p:nvSpPr>
        <p:spPr>
          <a:xfrm>
            <a:off x="7736454" y="4064137"/>
            <a:ext cx="1970959" cy="705804"/>
          </a:xfrm>
          <a:prstGeom prst="rect">
            <a:avLst/>
          </a:prstGeom>
          <a:noFill/>
          <a:ln/>
        </p:spPr>
        <p:txBody>
          <a:bodyPr wrap="square" lIns="0" tIns="0" rIns="0" bIns="0" rtlCol="0" anchor="t"/>
          <a:lstStyle/>
          <a:p>
            <a:pPr marL="0" indent="0" algn="ctr">
              <a:lnSpc>
                <a:spcPts val="2750"/>
              </a:lnSpc>
              <a:buNone/>
            </a:pPr>
            <a:r>
              <a:rPr lang="en-US" sz="2200" dirty="0">
                <a:solidFill>
                  <a:srgbClr val="3A3A3A"/>
                </a:solidFill>
                <a:latin typeface="Noto Serif Medium" pitchFamily="34" charset="0"/>
                <a:ea typeface="Noto Serif Medium" pitchFamily="34" charset="-122"/>
                <a:cs typeface="Noto Serif Medium" pitchFamily="34" charset="-120"/>
              </a:rPr>
              <a:t>Habit Formation</a:t>
            </a:r>
            <a:endParaRPr lang="en-US" sz="2200" dirty="0"/>
          </a:p>
        </p:txBody>
      </p:sp>
      <p:sp>
        <p:nvSpPr>
          <p:cNvPr id="9" name="Text 6"/>
          <p:cNvSpPr/>
          <p:nvPr/>
        </p:nvSpPr>
        <p:spPr>
          <a:xfrm>
            <a:off x="7736454" y="4870322"/>
            <a:ext cx="1970959" cy="564644"/>
          </a:xfrm>
          <a:prstGeom prst="rect">
            <a:avLst/>
          </a:prstGeom>
          <a:noFill/>
          <a:ln/>
        </p:spPr>
        <p:txBody>
          <a:bodyPr wrap="square" lIns="0" tIns="0" rIns="0" bIns="0" rtlCol="0" anchor="t"/>
          <a:lstStyle/>
          <a:p>
            <a:pPr marL="0" indent="0" algn="ctr">
              <a:lnSpc>
                <a:spcPts val="2200"/>
              </a:lnSpc>
              <a:buNone/>
            </a:pPr>
            <a:r>
              <a:rPr lang="en-US" sz="1750" dirty="0">
                <a:solidFill>
                  <a:srgbClr val="4C4C4C"/>
                </a:solidFill>
                <a:latin typeface="Noto Serif" pitchFamily="34" charset="0"/>
                <a:ea typeface="Noto Serif" pitchFamily="34" charset="-122"/>
                <a:cs typeface="Noto Serif" pitchFamily="34" charset="-120"/>
              </a:rPr>
              <a:t>Foster sustainable daily routines</a:t>
            </a:r>
            <a:endParaRPr lang="en-US" sz="1750" dirty="0"/>
          </a:p>
        </p:txBody>
      </p:sp>
      <p:sp>
        <p:nvSpPr>
          <p:cNvPr id="10" name="Text 7"/>
          <p:cNvSpPr/>
          <p:nvPr/>
        </p:nvSpPr>
        <p:spPr>
          <a:xfrm>
            <a:off x="10421648" y="3527725"/>
            <a:ext cx="1970959" cy="705804"/>
          </a:xfrm>
          <a:prstGeom prst="rect">
            <a:avLst/>
          </a:prstGeom>
          <a:noFill/>
          <a:ln/>
        </p:spPr>
        <p:txBody>
          <a:bodyPr wrap="square" lIns="0" tIns="0" rIns="0" bIns="0" rtlCol="0" anchor="t"/>
          <a:lstStyle/>
          <a:p>
            <a:pPr marL="0" indent="0" algn="ctr">
              <a:lnSpc>
                <a:spcPts val="2750"/>
              </a:lnSpc>
              <a:buNone/>
            </a:pPr>
            <a:r>
              <a:rPr lang="en-US" sz="2200" dirty="0">
                <a:solidFill>
                  <a:srgbClr val="3A3A3A"/>
                </a:solidFill>
                <a:latin typeface="Noto Serif Medium" pitchFamily="34" charset="0"/>
                <a:ea typeface="Noto Serif Medium" pitchFamily="34" charset="-122"/>
                <a:cs typeface="Noto Serif Medium" pitchFamily="34" charset="-120"/>
              </a:rPr>
              <a:t>Data-Driven Insight</a:t>
            </a:r>
            <a:endParaRPr lang="en-US" sz="2200" dirty="0"/>
          </a:p>
        </p:txBody>
      </p:sp>
      <p:sp>
        <p:nvSpPr>
          <p:cNvPr id="11" name="Text 8"/>
          <p:cNvSpPr/>
          <p:nvPr/>
        </p:nvSpPr>
        <p:spPr>
          <a:xfrm>
            <a:off x="10421648" y="4333911"/>
            <a:ext cx="1970959" cy="846966"/>
          </a:xfrm>
          <a:prstGeom prst="rect">
            <a:avLst/>
          </a:prstGeom>
          <a:noFill/>
          <a:ln/>
        </p:spPr>
        <p:txBody>
          <a:bodyPr wrap="square" lIns="0" tIns="0" rIns="0" bIns="0" rtlCol="0" anchor="t"/>
          <a:lstStyle/>
          <a:p>
            <a:pPr marL="0" indent="0" algn="ctr">
              <a:lnSpc>
                <a:spcPts val="2200"/>
              </a:lnSpc>
              <a:buNone/>
            </a:pPr>
            <a:r>
              <a:rPr lang="en-US" sz="1750" dirty="0">
                <a:solidFill>
                  <a:srgbClr val="4C4C4C"/>
                </a:solidFill>
                <a:latin typeface="Noto Serif" pitchFamily="34" charset="0"/>
                <a:ea typeface="Noto Serif" pitchFamily="34" charset="-122"/>
                <a:cs typeface="Noto Serif" pitchFamily="34" charset="-120"/>
              </a:rPr>
              <a:t>Enable informed decisions with analytics</a:t>
            </a:r>
            <a:endParaRPr lang="en-US" sz="1750" dirty="0"/>
          </a:p>
        </p:txBody>
      </p:sp>
      <p:sp>
        <p:nvSpPr>
          <p:cNvPr id="12" name="Text 9"/>
          <p:cNvSpPr/>
          <p:nvPr/>
        </p:nvSpPr>
        <p:spPr>
          <a:xfrm>
            <a:off x="793790" y="66029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Every feature in Fitlife is designed with these four pillars in mind — ensuring the platform delivers real, measurable value to every user from day one.</a:t>
            </a:r>
            <a:endParaRPr lang="en-US" sz="1750" dirty="0"/>
          </a:p>
        </p:txBody>
      </p:sp>
      <p:pic>
        <p:nvPicPr>
          <p:cNvPr id="14" name="Picture 13">
            <a:extLst>
              <a:ext uri="{FF2B5EF4-FFF2-40B4-BE49-F238E27FC236}">
                <a16:creationId xmlns:a16="http://schemas.microsoft.com/office/drawing/2014/main" id="{6C9139EB-28DE-2DFC-FED6-512470558152}"/>
              </a:ext>
            </a:extLst>
          </p:cNvPr>
          <p:cNvPicPr>
            <a:picLocks noChangeAspect="1"/>
          </p:cNvPicPr>
          <p:nvPr/>
        </p:nvPicPr>
        <p:blipFill>
          <a:blip r:embed="rId4"/>
          <a:stretch>
            <a:fillRect/>
          </a:stretch>
        </p:blipFill>
        <p:spPr>
          <a:xfrm>
            <a:off x="11771993" y="7466059"/>
            <a:ext cx="2800350" cy="7258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79183" y="554831"/>
            <a:ext cx="10862786" cy="564713"/>
          </a:xfrm>
          <a:prstGeom prst="rect">
            <a:avLst/>
          </a:prstGeom>
          <a:noFill/>
          <a:ln/>
        </p:spPr>
        <p:txBody>
          <a:bodyPr wrap="none" lIns="0" tIns="0" rIns="0" bIns="0" rtlCol="0" anchor="t"/>
          <a:lstStyle/>
          <a:p>
            <a:pPr marL="0" indent="0" algn="l">
              <a:lnSpc>
                <a:spcPts val="4400"/>
              </a:lnSpc>
              <a:buNone/>
            </a:pPr>
            <a:r>
              <a:rPr lang="en-US" sz="3550" dirty="0">
                <a:solidFill>
                  <a:srgbClr val="3A3A3A"/>
                </a:solidFill>
                <a:latin typeface="Noto Serif Medium" pitchFamily="34" charset="0"/>
                <a:ea typeface="Noto Serif Medium" pitchFamily="34" charset="-122"/>
                <a:cs typeface="Noto Serif Medium" pitchFamily="34" charset="-120"/>
              </a:rPr>
              <a:t>Fitlife's Reach: Defining the Scope of Our Solution</a:t>
            </a:r>
            <a:endParaRPr lang="en-US" sz="3550" dirty="0"/>
          </a:p>
        </p:txBody>
      </p:sp>
      <p:pic>
        <p:nvPicPr>
          <p:cNvPr id="3" name="Image 0" descr="preencoded.png"/>
          <p:cNvPicPr>
            <a:picLocks noChangeAspect="1"/>
          </p:cNvPicPr>
          <p:nvPr/>
        </p:nvPicPr>
        <p:blipFill>
          <a:blip r:embed="rId3"/>
          <a:stretch>
            <a:fillRect/>
          </a:stretch>
        </p:blipFill>
        <p:spPr>
          <a:xfrm>
            <a:off x="1079183" y="1497449"/>
            <a:ext cx="6015395" cy="6015395"/>
          </a:xfrm>
          <a:prstGeom prst="rect">
            <a:avLst/>
          </a:prstGeom>
        </p:spPr>
      </p:pic>
      <p:pic>
        <p:nvPicPr>
          <p:cNvPr id="4" name="Image 1" descr="preencoded.png"/>
          <p:cNvPicPr>
            <a:picLocks noChangeAspect="1"/>
          </p:cNvPicPr>
          <p:nvPr/>
        </p:nvPicPr>
        <p:blipFill>
          <a:blip r:embed="rId4"/>
          <a:stretch>
            <a:fillRect/>
          </a:stretch>
        </p:blipFill>
        <p:spPr>
          <a:xfrm>
            <a:off x="1079183" y="1497449"/>
            <a:ext cx="6015395" cy="6015395"/>
          </a:xfrm>
          <a:prstGeom prst="rect">
            <a:avLst/>
          </a:prstGeom>
        </p:spPr>
      </p:pic>
      <p:sp>
        <p:nvSpPr>
          <p:cNvPr id="5" name="Text 1"/>
          <p:cNvSpPr/>
          <p:nvPr/>
        </p:nvSpPr>
        <p:spPr>
          <a:xfrm>
            <a:off x="7543205" y="3348038"/>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What's In Scope</a:t>
            </a:r>
            <a:endParaRPr lang="en-US" sz="1750" dirty="0"/>
          </a:p>
        </p:txBody>
      </p:sp>
      <p:sp>
        <p:nvSpPr>
          <p:cNvPr id="6" name="Text 2"/>
          <p:cNvSpPr/>
          <p:nvPr/>
        </p:nvSpPr>
        <p:spPr>
          <a:xfrm>
            <a:off x="7543205" y="3774400"/>
            <a:ext cx="6015395" cy="779383"/>
          </a:xfrm>
          <a:prstGeom prst="rect">
            <a:avLst/>
          </a:prstGeom>
          <a:noFill/>
          <a:ln/>
        </p:spPr>
        <p:txBody>
          <a:bodyPr wrap="square" lIns="0" tIns="0" rIns="0" bIns="0" rtlCol="0" anchor="t"/>
          <a:lstStyle/>
          <a:p>
            <a:pPr marL="0" indent="0" algn="l">
              <a:lnSpc>
                <a:spcPts val="2000"/>
              </a:lnSpc>
              <a:buNone/>
            </a:pPr>
            <a:r>
              <a:rPr lang="en-US" sz="1400" dirty="0">
                <a:solidFill>
                  <a:srgbClr val="4C4C4C"/>
                </a:solidFill>
                <a:latin typeface="Noto Serif" pitchFamily="34" charset="0"/>
                <a:ea typeface="Noto Serif" pitchFamily="34" charset="-122"/>
                <a:cs typeface="Noto Serif" pitchFamily="34" charset="-120"/>
              </a:rPr>
              <a:t>Fitlife covers the complete fitness journey — from onboarding and goal setting, through daily workouts and meal logging, to long-term progress reviews and community engagement.</a:t>
            </a:r>
            <a:endParaRPr lang="en-US" sz="1400" dirty="0"/>
          </a:p>
        </p:txBody>
      </p:sp>
      <p:sp>
        <p:nvSpPr>
          <p:cNvPr id="7" name="Shape 3"/>
          <p:cNvSpPr/>
          <p:nvPr/>
        </p:nvSpPr>
        <p:spPr>
          <a:xfrm>
            <a:off x="7543205" y="4715708"/>
            <a:ext cx="6015395" cy="928568"/>
          </a:xfrm>
          <a:prstGeom prst="roundRect">
            <a:avLst>
              <a:gd name="adj" fmla="val 8176"/>
            </a:avLst>
          </a:prstGeom>
          <a:solidFill>
            <a:srgbClr val="B6D6FC"/>
          </a:solidFill>
          <a:ln/>
        </p:spPr>
      </p:sp>
      <p:pic>
        <p:nvPicPr>
          <p:cNvPr id="8" name="Image 2" descr="preencoded.png"/>
          <p:cNvPicPr>
            <a:picLocks noChangeAspect="1"/>
          </p:cNvPicPr>
          <p:nvPr/>
        </p:nvPicPr>
        <p:blipFill>
          <a:blip r:embed="rId5"/>
          <a:stretch>
            <a:fillRect/>
          </a:stretch>
        </p:blipFill>
        <p:spPr>
          <a:xfrm>
            <a:off x="7723942" y="4981456"/>
            <a:ext cx="225862" cy="180737"/>
          </a:xfrm>
          <a:prstGeom prst="rect">
            <a:avLst/>
          </a:prstGeom>
        </p:spPr>
      </p:pic>
      <p:sp>
        <p:nvSpPr>
          <p:cNvPr id="9" name="Text 4"/>
          <p:cNvSpPr/>
          <p:nvPr/>
        </p:nvSpPr>
        <p:spPr>
          <a:xfrm>
            <a:off x="8130540" y="4904780"/>
            <a:ext cx="5247323" cy="519589"/>
          </a:xfrm>
          <a:prstGeom prst="rect">
            <a:avLst/>
          </a:prstGeom>
          <a:noFill/>
          <a:ln/>
        </p:spPr>
        <p:txBody>
          <a:bodyPr wrap="square" lIns="0" tIns="0" rIns="0" bIns="0" rtlCol="0" anchor="t"/>
          <a:lstStyle/>
          <a:p>
            <a:pPr marL="0" indent="0" algn="l">
              <a:lnSpc>
                <a:spcPts val="2000"/>
              </a:lnSpc>
              <a:buNone/>
            </a:pPr>
            <a:r>
              <a:rPr lang="en-US" sz="1400" dirty="0">
                <a:solidFill>
                  <a:srgbClr val="000000"/>
                </a:solidFill>
                <a:latin typeface="Noto Serif" pitchFamily="34" charset="0"/>
                <a:ea typeface="Noto Serif" pitchFamily="34" charset="-122"/>
                <a:cs typeface="Noto Serif" pitchFamily="34" charset="-120"/>
              </a:rPr>
              <a:t>Fitlife supports individual users, fitness coaches, and wellness organisations within a single unified platform.</a:t>
            </a:r>
            <a:endParaRPr lang="en-US" sz="1400" dirty="0"/>
          </a:p>
        </p:txBody>
      </p:sp>
      <p:pic>
        <p:nvPicPr>
          <p:cNvPr id="11" name="Picture 10">
            <a:extLst>
              <a:ext uri="{FF2B5EF4-FFF2-40B4-BE49-F238E27FC236}">
                <a16:creationId xmlns:a16="http://schemas.microsoft.com/office/drawing/2014/main" id="{A8585E53-A2F5-0B13-1442-E32F2817DF10}"/>
              </a:ext>
            </a:extLst>
          </p:cNvPr>
          <p:cNvPicPr>
            <a:picLocks noChangeAspect="1"/>
          </p:cNvPicPr>
          <p:nvPr/>
        </p:nvPicPr>
        <p:blipFill>
          <a:blip r:embed="rId6"/>
          <a:stretch>
            <a:fillRect/>
          </a:stretch>
        </p:blipFill>
        <p:spPr>
          <a:xfrm>
            <a:off x="11830050" y="6591300"/>
            <a:ext cx="2800350" cy="163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9025" y="988576"/>
            <a:ext cx="12909352" cy="686633"/>
          </a:xfrm>
          <a:prstGeom prst="rect">
            <a:avLst/>
          </a:prstGeom>
          <a:noFill/>
          <a:ln/>
        </p:spPr>
        <p:txBody>
          <a:bodyPr wrap="none" lIns="0" tIns="0" rIns="0" bIns="0" rtlCol="0" anchor="t"/>
          <a:lstStyle/>
          <a:p>
            <a:pPr marL="0" indent="0" algn="l">
              <a:lnSpc>
                <a:spcPts val="5400"/>
              </a:lnSpc>
              <a:buNone/>
            </a:pPr>
            <a:r>
              <a:rPr lang="en-US" sz="4300" dirty="0">
                <a:solidFill>
                  <a:srgbClr val="3A3A3A"/>
                </a:solidFill>
                <a:latin typeface="Noto Serif Medium" pitchFamily="34" charset="0"/>
                <a:ea typeface="Noto Serif Medium" pitchFamily="34" charset="-122"/>
                <a:cs typeface="Noto Serif Medium" pitchFamily="34" charset="-120"/>
              </a:rPr>
              <a:t>Essential Features: What Makes Fitlife Stand Out</a:t>
            </a:r>
            <a:endParaRPr lang="en-US" sz="4300" dirty="0"/>
          </a:p>
        </p:txBody>
      </p:sp>
      <p:sp>
        <p:nvSpPr>
          <p:cNvPr id="3" name="Shape 1"/>
          <p:cNvSpPr/>
          <p:nvPr/>
        </p:nvSpPr>
        <p:spPr>
          <a:xfrm>
            <a:off x="769025" y="2430423"/>
            <a:ext cx="4222194" cy="2305764"/>
          </a:xfrm>
          <a:prstGeom prst="roundRect">
            <a:avLst>
              <a:gd name="adj" fmla="val 6345"/>
            </a:avLst>
          </a:prstGeom>
          <a:solidFill>
            <a:srgbClr val="FDFBF7"/>
          </a:solidFill>
          <a:ln/>
          <a:effectLst>
            <a:outerShdw dist="27940" dir="2700000" algn="bl" rotWithShape="0">
              <a:srgbClr val="E6DED2">
                <a:alpha val="100000"/>
              </a:srgbClr>
            </a:outerShdw>
          </a:effectLst>
        </p:spPr>
      </p:sp>
      <p:sp>
        <p:nvSpPr>
          <p:cNvPr id="4" name="Shape 2"/>
          <p:cNvSpPr/>
          <p:nvPr/>
        </p:nvSpPr>
        <p:spPr>
          <a:xfrm>
            <a:off x="769025" y="2399943"/>
            <a:ext cx="4222194" cy="121920"/>
          </a:xfrm>
          <a:prstGeom prst="roundRect">
            <a:avLst>
              <a:gd name="adj" fmla="val 75698"/>
            </a:avLst>
          </a:prstGeom>
          <a:solidFill>
            <a:srgbClr val="E6DED2"/>
          </a:solidFill>
          <a:ln/>
        </p:spPr>
      </p:sp>
      <p:sp>
        <p:nvSpPr>
          <p:cNvPr id="5" name="Shape 3"/>
          <p:cNvSpPr/>
          <p:nvPr/>
        </p:nvSpPr>
        <p:spPr>
          <a:xfrm>
            <a:off x="2550557" y="2100858"/>
            <a:ext cx="659130" cy="659130"/>
          </a:xfrm>
          <a:prstGeom prst="roundRect">
            <a:avLst>
              <a:gd name="adj" fmla="val 138728"/>
            </a:avLst>
          </a:prstGeom>
          <a:solidFill>
            <a:srgbClr val="E6DED2">
              <a:alpha val="50000"/>
            </a:srgbClr>
          </a:solidFill>
          <a:ln/>
        </p:spPr>
      </p:sp>
      <p:sp>
        <p:nvSpPr>
          <p:cNvPr id="6" name="Text 4"/>
          <p:cNvSpPr/>
          <p:nvPr/>
        </p:nvSpPr>
        <p:spPr>
          <a:xfrm>
            <a:off x="2748320" y="2265640"/>
            <a:ext cx="263604" cy="329565"/>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Noto Serif Medium" pitchFamily="34" charset="0"/>
                <a:ea typeface="Noto Serif Medium" pitchFamily="34" charset="-122"/>
                <a:cs typeface="Noto Serif Medium" pitchFamily="34" charset="-120"/>
              </a:rPr>
              <a:t>1</a:t>
            </a:r>
            <a:endParaRPr lang="en-US" sz="2050" dirty="0"/>
          </a:p>
        </p:txBody>
      </p:sp>
      <p:sp>
        <p:nvSpPr>
          <p:cNvPr id="7" name="Text 5"/>
          <p:cNvSpPr/>
          <p:nvPr/>
        </p:nvSpPr>
        <p:spPr>
          <a:xfrm>
            <a:off x="1019175" y="2979658"/>
            <a:ext cx="3721894" cy="686514"/>
          </a:xfrm>
          <a:prstGeom prst="rect">
            <a:avLst/>
          </a:prstGeom>
          <a:noFill/>
          <a:ln/>
        </p:spPr>
        <p:txBody>
          <a:bodyPr wrap="square" lIns="0" tIns="0" rIns="0" bIns="0" rtlCol="0" anchor="t"/>
          <a:lstStyle/>
          <a:p>
            <a:pPr marL="0" indent="0" algn="l">
              <a:lnSpc>
                <a:spcPts val="2700"/>
              </a:lnSpc>
              <a:buNone/>
            </a:pPr>
            <a:r>
              <a:rPr lang="en-US" sz="2150" dirty="0">
                <a:solidFill>
                  <a:srgbClr val="4C4C4C"/>
                </a:solidFill>
                <a:latin typeface="Noto Serif Medium" pitchFamily="34" charset="0"/>
                <a:ea typeface="Noto Serif Medium" pitchFamily="34" charset="-122"/>
                <a:cs typeface="Noto Serif Medium" pitchFamily="34" charset="-120"/>
              </a:rPr>
              <a:t>User Authentication &amp; Profiles</a:t>
            </a:r>
            <a:endParaRPr lang="en-US" sz="2150" dirty="0"/>
          </a:p>
        </p:txBody>
      </p:sp>
      <p:sp>
        <p:nvSpPr>
          <p:cNvPr id="8" name="Text 6"/>
          <p:cNvSpPr/>
          <p:nvPr/>
        </p:nvSpPr>
        <p:spPr>
          <a:xfrm>
            <a:off x="1019175" y="3793808"/>
            <a:ext cx="3721894" cy="692229"/>
          </a:xfrm>
          <a:prstGeom prst="rect">
            <a:avLst/>
          </a:prstGeom>
          <a:noFill/>
          <a:ln/>
        </p:spPr>
        <p:txBody>
          <a:bodyPr wrap="square" lIns="0" tIns="0" rIns="0" bIns="0" rtlCol="0" anchor="t"/>
          <a:lstStyle/>
          <a:p>
            <a:pPr marL="0" indent="0" algn="l">
              <a:lnSpc>
                <a:spcPts val="2700"/>
              </a:lnSpc>
              <a:buNone/>
            </a:pPr>
            <a:r>
              <a:rPr lang="en-US" sz="1700" dirty="0">
                <a:solidFill>
                  <a:srgbClr val="4C4C4C"/>
                </a:solidFill>
                <a:latin typeface="Noto Serif" pitchFamily="34" charset="0"/>
                <a:ea typeface="Noto Serif" pitchFamily="34" charset="-122"/>
                <a:cs typeface="Noto Serif" pitchFamily="34" charset="-120"/>
              </a:rPr>
              <a:t>Secure login, detailed fitness profiles, and goal configuration.</a:t>
            </a:r>
            <a:endParaRPr lang="en-US" sz="1700" dirty="0"/>
          </a:p>
        </p:txBody>
      </p:sp>
      <p:sp>
        <p:nvSpPr>
          <p:cNvPr id="9" name="Shape 7"/>
          <p:cNvSpPr/>
          <p:nvPr/>
        </p:nvSpPr>
        <p:spPr>
          <a:xfrm>
            <a:off x="5203984" y="2430423"/>
            <a:ext cx="4222313" cy="2305764"/>
          </a:xfrm>
          <a:prstGeom prst="roundRect">
            <a:avLst>
              <a:gd name="adj" fmla="val 6345"/>
            </a:avLst>
          </a:prstGeom>
          <a:solidFill>
            <a:srgbClr val="FDFBF7"/>
          </a:solidFill>
          <a:ln/>
          <a:effectLst>
            <a:outerShdw dist="27940" dir="2700000" algn="bl" rotWithShape="0">
              <a:srgbClr val="E6DED2">
                <a:alpha val="100000"/>
              </a:srgbClr>
            </a:outerShdw>
          </a:effectLst>
        </p:spPr>
      </p:sp>
      <p:sp>
        <p:nvSpPr>
          <p:cNvPr id="10" name="Shape 8"/>
          <p:cNvSpPr/>
          <p:nvPr/>
        </p:nvSpPr>
        <p:spPr>
          <a:xfrm>
            <a:off x="5203984" y="2399943"/>
            <a:ext cx="4222313" cy="121920"/>
          </a:xfrm>
          <a:prstGeom prst="roundRect">
            <a:avLst>
              <a:gd name="adj" fmla="val 75698"/>
            </a:avLst>
          </a:prstGeom>
          <a:solidFill>
            <a:srgbClr val="E6DED2"/>
          </a:solidFill>
          <a:ln/>
        </p:spPr>
      </p:sp>
      <p:sp>
        <p:nvSpPr>
          <p:cNvPr id="11" name="Shape 9"/>
          <p:cNvSpPr/>
          <p:nvPr/>
        </p:nvSpPr>
        <p:spPr>
          <a:xfrm>
            <a:off x="6985516" y="2100858"/>
            <a:ext cx="659130" cy="659130"/>
          </a:xfrm>
          <a:prstGeom prst="roundRect">
            <a:avLst>
              <a:gd name="adj" fmla="val 138728"/>
            </a:avLst>
          </a:prstGeom>
          <a:solidFill>
            <a:srgbClr val="E6DED2">
              <a:alpha val="50000"/>
            </a:srgbClr>
          </a:solidFill>
          <a:ln/>
        </p:spPr>
      </p:sp>
      <p:sp>
        <p:nvSpPr>
          <p:cNvPr id="12" name="Text 10"/>
          <p:cNvSpPr/>
          <p:nvPr/>
        </p:nvSpPr>
        <p:spPr>
          <a:xfrm>
            <a:off x="7183279" y="2265640"/>
            <a:ext cx="263604" cy="329565"/>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Noto Serif Medium" pitchFamily="34" charset="0"/>
                <a:ea typeface="Noto Serif Medium" pitchFamily="34" charset="-122"/>
                <a:cs typeface="Noto Serif Medium" pitchFamily="34" charset="-120"/>
              </a:rPr>
              <a:t>2</a:t>
            </a:r>
            <a:endParaRPr lang="en-US" sz="2050" dirty="0"/>
          </a:p>
        </p:txBody>
      </p:sp>
      <p:sp>
        <p:nvSpPr>
          <p:cNvPr id="13" name="Text 11"/>
          <p:cNvSpPr/>
          <p:nvPr/>
        </p:nvSpPr>
        <p:spPr>
          <a:xfrm>
            <a:off x="5454134" y="2979658"/>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4C4C4C"/>
                </a:solidFill>
                <a:latin typeface="Noto Serif Medium" pitchFamily="34" charset="0"/>
                <a:ea typeface="Noto Serif Medium" pitchFamily="34" charset="-122"/>
                <a:cs typeface="Noto Serif Medium" pitchFamily="34" charset="-120"/>
              </a:rPr>
              <a:t>Workout Planner</a:t>
            </a:r>
            <a:endParaRPr lang="en-US" sz="2150" dirty="0"/>
          </a:p>
        </p:txBody>
      </p:sp>
      <p:sp>
        <p:nvSpPr>
          <p:cNvPr id="14" name="Text 12"/>
          <p:cNvSpPr/>
          <p:nvPr/>
        </p:nvSpPr>
        <p:spPr>
          <a:xfrm>
            <a:off x="5454134" y="3450550"/>
            <a:ext cx="3722013" cy="692229"/>
          </a:xfrm>
          <a:prstGeom prst="rect">
            <a:avLst/>
          </a:prstGeom>
          <a:noFill/>
          <a:ln/>
        </p:spPr>
        <p:txBody>
          <a:bodyPr wrap="square" lIns="0" tIns="0" rIns="0" bIns="0" rtlCol="0" anchor="t"/>
          <a:lstStyle/>
          <a:p>
            <a:pPr marL="0" indent="0" algn="l">
              <a:lnSpc>
                <a:spcPts val="2700"/>
              </a:lnSpc>
              <a:buNone/>
            </a:pPr>
            <a:r>
              <a:rPr lang="en-US" sz="1700" dirty="0">
                <a:solidFill>
                  <a:srgbClr val="4C4C4C"/>
                </a:solidFill>
                <a:latin typeface="Noto Serif" pitchFamily="34" charset="0"/>
                <a:ea typeface="Noto Serif" pitchFamily="34" charset="-122"/>
                <a:cs typeface="Noto Serif" pitchFamily="34" charset="-120"/>
              </a:rPr>
              <a:t>Custom and pre-built routines with video demonstrations and timers.</a:t>
            </a:r>
            <a:endParaRPr lang="en-US" sz="1700" dirty="0"/>
          </a:p>
        </p:txBody>
      </p:sp>
      <p:sp>
        <p:nvSpPr>
          <p:cNvPr id="15" name="Shape 13"/>
          <p:cNvSpPr/>
          <p:nvPr/>
        </p:nvSpPr>
        <p:spPr>
          <a:xfrm>
            <a:off x="9639062" y="2430423"/>
            <a:ext cx="4222313" cy="2305764"/>
          </a:xfrm>
          <a:prstGeom prst="roundRect">
            <a:avLst>
              <a:gd name="adj" fmla="val 6345"/>
            </a:avLst>
          </a:prstGeom>
          <a:solidFill>
            <a:srgbClr val="FDFBF7"/>
          </a:solidFill>
          <a:ln/>
          <a:effectLst>
            <a:outerShdw dist="27940" dir="2700000" algn="bl" rotWithShape="0">
              <a:srgbClr val="E6DED2">
                <a:alpha val="100000"/>
              </a:srgbClr>
            </a:outerShdw>
          </a:effectLst>
        </p:spPr>
      </p:sp>
      <p:sp>
        <p:nvSpPr>
          <p:cNvPr id="16" name="Shape 14"/>
          <p:cNvSpPr/>
          <p:nvPr/>
        </p:nvSpPr>
        <p:spPr>
          <a:xfrm>
            <a:off x="9639062" y="2399943"/>
            <a:ext cx="4222313" cy="121920"/>
          </a:xfrm>
          <a:prstGeom prst="roundRect">
            <a:avLst>
              <a:gd name="adj" fmla="val 75698"/>
            </a:avLst>
          </a:prstGeom>
          <a:solidFill>
            <a:srgbClr val="E6DED2"/>
          </a:solidFill>
          <a:ln/>
        </p:spPr>
      </p:sp>
      <p:sp>
        <p:nvSpPr>
          <p:cNvPr id="17" name="Shape 15"/>
          <p:cNvSpPr/>
          <p:nvPr/>
        </p:nvSpPr>
        <p:spPr>
          <a:xfrm>
            <a:off x="11420594" y="2100858"/>
            <a:ext cx="659130" cy="659130"/>
          </a:xfrm>
          <a:prstGeom prst="roundRect">
            <a:avLst>
              <a:gd name="adj" fmla="val 138728"/>
            </a:avLst>
          </a:prstGeom>
          <a:solidFill>
            <a:srgbClr val="E6DED2">
              <a:alpha val="50000"/>
            </a:srgbClr>
          </a:solidFill>
          <a:ln/>
        </p:spPr>
      </p:sp>
      <p:sp>
        <p:nvSpPr>
          <p:cNvPr id="18" name="Text 16"/>
          <p:cNvSpPr/>
          <p:nvPr/>
        </p:nvSpPr>
        <p:spPr>
          <a:xfrm>
            <a:off x="11618357" y="2265640"/>
            <a:ext cx="263604" cy="329565"/>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Noto Serif Medium" pitchFamily="34" charset="0"/>
                <a:ea typeface="Noto Serif Medium" pitchFamily="34" charset="-122"/>
                <a:cs typeface="Noto Serif Medium" pitchFamily="34" charset="-120"/>
              </a:rPr>
              <a:t>3</a:t>
            </a:r>
            <a:endParaRPr lang="en-US" sz="2050" dirty="0"/>
          </a:p>
        </p:txBody>
      </p:sp>
      <p:sp>
        <p:nvSpPr>
          <p:cNvPr id="19" name="Text 17"/>
          <p:cNvSpPr/>
          <p:nvPr/>
        </p:nvSpPr>
        <p:spPr>
          <a:xfrm>
            <a:off x="9889212" y="2979658"/>
            <a:ext cx="3654385" cy="343257"/>
          </a:xfrm>
          <a:prstGeom prst="rect">
            <a:avLst/>
          </a:prstGeom>
          <a:noFill/>
          <a:ln/>
        </p:spPr>
        <p:txBody>
          <a:bodyPr wrap="none" lIns="0" tIns="0" rIns="0" bIns="0" rtlCol="0" anchor="t"/>
          <a:lstStyle/>
          <a:p>
            <a:pPr marL="0" indent="0" algn="l">
              <a:lnSpc>
                <a:spcPts val="2700"/>
              </a:lnSpc>
              <a:buNone/>
            </a:pPr>
            <a:r>
              <a:rPr lang="en-US" sz="2150" dirty="0">
                <a:solidFill>
                  <a:srgbClr val="4C4C4C"/>
                </a:solidFill>
                <a:latin typeface="Noto Serif Medium" pitchFamily="34" charset="0"/>
                <a:ea typeface="Noto Serif Medium" pitchFamily="34" charset="-122"/>
                <a:cs typeface="Noto Serif Medium" pitchFamily="34" charset="-120"/>
              </a:rPr>
              <a:t>Nutrition &amp; Calorie Tracker</a:t>
            </a:r>
            <a:endParaRPr lang="en-US" sz="2150" dirty="0"/>
          </a:p>
        </p:txBody>
      </p:sp>
      <p:sp>
        <p:nvSpPr>
          <p:cNvPr id="20" name="Text 18"/>
          <p:cNvSpPr/>
          <p:nvPr/>
        </p:nvSpPr>
        <p:spPr>
          <a:xfrm>
            <a:off x="9889212" y="3450550"/>
            <a:ext cx="3722013" cy="692229"/>
          </a:xfrm>
          <a:prstGeom prst="rect">
            <a:avLst/>
          </a:prstGeom>
          <a:noFill/>
          <a:ln/>
        </p:spPr>
        <p:txBody>
          <a:bodyPr wrap="square" lIns="0" tIns="0" rIns="0" bIns="0" rtlCol="0" anchor="t"/>
          <a:lstStyle/>
          <a:p>
            <a:pPr marL="0" indent="0" algn="l">
              <a:lnSpc>
                <a:spcPts val="2700"/>
              </a:lnSpc>
              <a:buNone/>
            </a:pPr>
            <a:r>
              <a:rPr lang="en-US" sz="1700" dirty="0">
                <a:solidFill>
                  <a:srgbClr val="4C4C4C"/>
                </a:solidFill>
                <a:latin typeface="Noto Serif" pitchFamily="34" charset="0"/>
                <a:ea typeface="Noto Serif" pitchFamily="34" charset="-122"/>
                <a:cs typeface="Noto Serif" pitchFamily="34" charset="-120"/>
              </a:rPr>
              <a:t>Food database, barcode scanning, and daily macro breakdowns.</a:t>
            </a:r>
            <a:endParaRPr lang="en-US" sz="1700" dirty="0"/>
          </a:p>
        </p:txBody>
      </p:sp>
      <p:sp>
        <p:nvSpPr>
          <p:cNvPr id="21" name="Shape 19"/>
          <p:cNvSpPr/>
          <p:nvPr/>
        </p:nvSpPr>
        <p:spPr>
          <a:xfrm>
            <a:off x="769025" y="5278517"/>
            <a:ext cx="6439733" cy="1962507"/>
          </a:xfrm>
          <a:prstGeom prst="roundRect">
            <a:avLst>
              <a:gd name="adj" fmla="val 7455"/>
            </a:avLst>
          </a:prstGeom>
          <a:solidFill>
            <a:srgbClr val="FDFBF7"/>
          </a:solidFill>
          <a:ln/>
          <a:effectLst>
            <a:outerShdw dist="27940" dir="2700000" algn="bl" rotWithShape="0">
              <a:srgbClr val="E6DED2">
                <a:alpha val="100000"/>
              </a:srgbClr>
            </a:outerShdw>
          </a:effectLst>
        </p:spPr>
      </p:sp>
      <p:sp>
        <p:nvSpPr>
          <p:cNvPr id="22" name="Shape 20"/>
          <p:cNvSpPr/>
          <p:nvPr/>
        </p:nvSpPr>
        <p:spPr>
          <a:xfrm>
            <a:off x="769025" y="5248037"/>
            <a:ext cx="6439733" cy="121920"/>
          </a:xfrm>
          <a:prstGeom prst="roundRect">
            <a:avLst>
              <a:gd name="adj" fmla="val 75698"/>
            </a:avLst>
          </a:prstGeom>
          <a:solidFill>
            <a:srgbClr val="E6DED2"/>
          </a:solidFill>
          <a:ln/>
        </p:spPr>
      </p:sp>
      <p:sp>
        <p:nvSpPr>
          <p:cNvPr id="23" name="Shape 21"/>
          <p:cNvSpPr/>
          <p:nvPr/>
        </p:nvSpPr>
        <p:spPr>
          <a:xfrm>
            <a:off x="3659267" y="4948952"/>
            <a:ext cx="659130" cy="659130"/>
          </a:xfrm>
          <a:prstGeom prst="roundRect">
            <a:avLst>
              <a:gd name="adj" fmla="val 138728"/>
            </a:avLst>
          </a:prstGeom>
          <a:solidFill>
            <a:srgbClr val="E6DED2">
              <a:alpha val="50000"/>
            </a:srgbClr>
          </a:solidFill>
          <a:ln/>
        </p:spPr>
      </p:sp>
      <p:sp>
        <p:nvSpPr>
          <p:cNvPr id="24" name="Text 22"/>
          <p:cNvSpPr/>
          <p:nvPr/>
        </p:nvSpPr>
        <p:spPr>
          <a:xfrm>
            <a:off x="3857030" y="5113734"/>
            <a:ext cx="263604" cy="329565"/>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Noto Serif Medium" pitchFamily="34" charset="0"/>
                <a:ea typeface="Noto Serif Medium" pitchFamily="34" charset="-122"/>
                <a:cs typeface="Noto Serif Medium" pitchFamily="34" charset="-120"/>
              </a:rPr>
              <a:t>4</a:t>
            </a:r>
            <a:endParaRPr lang="en-US" sz="2050" dirty="0"/>
          </a:p>
        </p:txBody>
      </p:sp>
      <p:sp>
        <p:nvSpPr>
          <p:cNvPr id="25" name="Text 23"/>
          <p:cNvSpPr/>
          <p:nvPr/>
        </p:nvSpPr>
        <p:spPr>
          <a:xfrm>
            <a:off x="1019175" y="5827752"/>
            <a:ext cx="4085511" cy="343257"/>
          </a:xfrm>
          <a:prstGeom prst="rect">
            <a:avLst/>
          </a:prstGeom>
          <a:noFill/>
          <a:ln/>
        </p:spPr>
        <p:txBody>
          <a:bodyPr wrap="none" lIns="0" tIns="0" rIns="0" bIns="0" rtlCol="0" anchor="t"/>
          <a:lstStyle/>
          <a:p>
            <a:pPr marL="0" indent="0" algn="l">
              <a:lnSpc>
                <a:spcPts val="2700"/>
              </a:lnSpc>
              <a:buNone/>
            </a:pPr>
            <a:r>
              <a:rPr lang="en-US" sz="2150" dirty="0">
                <a:solidFill>
                  <a:srgbClr val="4C4C4C"/>
                </a:solidFill>
                <a:latin typeface="Noto Serif Medium" pitchFamily="34" charset="0"/>
                <a:ea typeface="Noto Serif Medium" pitchFamily="34" charset="-122"/>
                <a:cs typeface="Noto Serif Medium" pitchFamily="34" charset="-120"/>
              </a:rPr>
              <a:t>Real-Time Progress Dashboard</a:t>
            </a:r>
            <a:endParaRPr lang="en-US" sz="2150" dirty="0"/>
          </a:p>
        </p:txBody>
      </p:sp>
      <p:sp>
        <p:nvSpPr>
          <p:cNvPr id="26" name="Text 24"/>
          <p:cNvSpPr/>
          <p:nvPr/>
        </p:nvSpPr>
        <p:spPr>
          <a:xfrm>
            <a:off x="1019175" y="6298644"/>
            <a:ext cx="5939433" cy="692229"/>
          </a:xfrm>
          <a:prstGeom prst="rect">
            <a:avLst/>
          </a:prstGeom>
          <a:noFill/>
          <a:ln/>
        </p:spPr>
        <p:txBody>
          <a:bodyPr wrap="square" lIns="0" tIns="0" rIns="0" bIns="0" rtlCol="0" anchor="t"/>
          <a:lstStyle/>
          <a:p>
            <a:pPr marL="0" indent="0" algn="l">
              <a:lnSpc>
                <a:spcPts val="2700"/>
              </a:lnSpc>
              <a:buNone/>
            </a:pPr>
            <a:r>
              <a:rPr lang="en-US" sz="1700" dirty="0">
                <a:solidFill>
                  <a:srgbClr val="4C4C4C"/>
                </a:solidFill>
                <a:latin typeface="Noto Serif" pitchFamily="34" charset="0"/>
                <a:ea typeface="Noto Serif" pitchFamily="34" charset="-122"/>
                <a:cs typeface="Noto Serif" pitchFamily="34" charset="-120"/>
              </a:rPr>
              <a:t>Graphs, streaks, and milestone notifications to keep users motivated.</a:t>
            </a:r>
            <a:endParaRPr lang="en-US" sz="1700" dirty="0"/>
          </a:p>
        </p:txBody>
      </p:sp>
      <p:sp>
        <p:nvSpPr>
          <p:cNvPr id="27" name="Shape 25"/>
          <p:cNvSpPr/>
          <p:nvPr/>
        </p:nvSpPr>
        <p:spPr>
          <a:xfrm>
            <a:off x="7421523" y="5278517"/>
            <a:ext cx="6439853" cy="1962507"/>
          </a:xfrm>
          <a:prstGeom prst="roundRect">
            <a:avLst>
              <a:gd name="adj" fmla="val 7455"/>
            </a:avLst>
          </a:prstGeom>
          <a:solidFill>
            <a:srgbClr val="FDFBF7"/>
          </a:solidFill>
          <a:ln/>
          <a:effectLst>
            <a:outerShdw dist="27940" dir="2700000" algn="bl" rotWithShape="0">
              <a:srgbClr val="E6DED2">
                <a:alpha val="100000"/>
              </a:srgbClr>
            </a:outerShdw>
          </a:effectLst>
        </p:spPr>
      </p:sp>
      <p:sp>
        <p:nvSpPr>
          <p:cNvPr id="28" name="Shape 26"/>
          <p:cNvSpPr/>
          <p:nvPr/>
        </p:nvSpPr>
        <p:spPr>
          <a:xfrm>
            <a:off x="7421523" y="5248037"/>
            <a:ext cx="6439853" cy="121920"/>
          </a:xfrm>
          <a:prstGeom prst="roundRect">
            <a:avLst>
              <a:gd name="adj" fmla="val 75698"/>
            </a:avLst>
          </a:prstGeom>
          <a:solidFill>
            <a:srgbClr val="E6DED2"/>
          </a:solidFill>
          <a:ln/>
        </p:spPr>
      </p:sp>
      <p:sp>
        <p:nvSpPr>
          <p:cNvPr id="29" name="Shape 27"/>
          <p:cNvSpPr/>
          <p:nvPr/>
        </p:nvSpPr>
        <p:spPr>
          <a:xfrm>
            <a:off x="10311884" y="4948952"/>
            <a:ext cx="659130" cy="659130"/>
          </a:xfrm>
          <a:prstGeom prst="roundRect">
            <a:avLst>
              <a:gd name="adj" fmla="val 138728"/>
            </a:avLst>
          </a:prstGeom>
          <a:solidFill>
            <a:srgbClr val="E6DED2">
              <a:alpha val="50000"/>
            </a:srgbClr>
          </a:solidFill>
          <a:ln/>
        </p:spPr>
      </p:sp>
      <p:sp>
        <p:nvSpPr>
          <p:cNvPr id="30" name="Text 28"/>
          <p:cNvSpPr/>
          <p:nvPr/>
        </p:nvSpPr>
        <p:spPr>
          <a:xfrm>
            <a:off x="10509647" y="5113734"/>
            <a:ext cx="263604" cy="329565"/>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Noto Serif Medium" pitchFamily="34" charset="0"/>
                <a:ea typeface="Noto Serif Medium" pitchFamily="34" charset="-122"/>
                <a:cs typeface="Noto Serif Medium" pitchFamily="34" charset="-120"/>
              </a:rPr>
              <a:t>5</a:t>
            </a:r>
            <a:endParaRPr lang="en-US" sz="2050" dirty="0"/>
          </a:p>
        </p:txBody>
      </p:sp>
      <p:sp>
        <p:nvSpPr>
          <p:cNvPr id="31" name="Text 29"/>
          <p:cNvSpPr/>
          <p:nvPr/>
        </p:nvSpPr>
        <p:spPr>
          <a:xfrm>
            <a:off x="7671673" y="5827752"/>
            <a:ext cx="4226600" cy="343257"/>
          </a:xfrm>
          <a:prstGeom prst="rect">
            <a:avLst/>
          </a:prstGeom>
          <a:noFill/>
          <a:ln/>
        </p:spPr>
        <p:txBody>
          <a:bodyPr wrap="none" lIns="0" tIns="0" rIns="0" bIns="0" rtlCol="0" anchor="t"/>
          <a:lstStyle/>
          <a:p>
            <a:pPr marL="0" indent="0" algn="l">
              <a:lnSpc>
                <a:spcPts val="2700"/>
              </a:lnSpc>
              <a:buNone/>
            </a:pPr>
            <a:r>
              <a:rPr lang="en-US" sz="2150" dirty="0">
                <a:solidFill>
                  <a:srgbClr val="4C4C4C"/>
                </a:solidFill>
                <a:latin typeface="Noto Serif Medium" pitchFamily="34" charset="0"/>
                <a:ea typeface="Noto Serif Medium" pitchFamily="34" charset="-122"/>
                <a:cs typeface="Noto Serif Medium" pitchFamily="34" charset="-120"/>
              </a:rPr>
              <a:t>Push Notifications &amp; Reminders</a:t>
            </a:r>
            <a:endParaRPr lang="en-US" sz="2150" dirty="0"/>
          </a:p>
        </p:txBody>
      </p:sp>
      <p:sp>
        <p:nvSpPr>
          <p:cNvPr id="32" name="Text 30"/>
          <p:cNvSpPr/>
          <p:nvPr/>
        </p:nvSpPr>
        <p:spPr>
          <a:xfrm>
            <a:off x="7671673" y="6298644"/>
            <a:ext cx="5939552" cy="692229"/>
          </a:xfrm>
          <a:prstGeom prst="rect">
            <a:avLst/>
          </a:prstGeom>
          <a:noFill/>
          <a:ln/>
        </p:spPr>
        <p:txBody>
          <a:bodyPr wrap="square" lIns="0" tIns="0" rIns="0" bIns="0" rtlCol="0" anchor="t"/>
          <a:lstStyle/>
          <a:p>
            <a:pPr marL="0" indent="0" algn="l">
              <a:lnSpc>
                <a:spcPts val="2700"/>
              </a:lnSpc>
              <a:buNone/>
            </a:pPr>
            <a:r>
              <a:rPr lang="en-US" sz="1700" dirty="0">
                <a:solidFill>
                  <a:srgbClr val="4C4C4C"/>
                </a:solidFill>
                <a:latin typeface="Noto Serif" pitchFamily="34" charset="0"/>
                <a:ea typeface="Noto Serif" pitchFamily="34" charset="-122"/>
                <a:cs typeface="Noto Serif" pitchFamily="34" charset="-120"/>
              </a:rPr>
              <a:t>Scheduled alerts for workouts, hydration, and meal times.</a:t>
            </a:r>
            <a:endParaRPr lang="en-US" sz="1700" dirty="0"/>
          </a:p>
        </p:txBody>
      </p:sp>
      <p:pic>
        <p:nvPicPr>
          <p:cNvPr id="34" name="Picture 33">
            <a:extLst>
              <a:ext uri="{FF2B5EF4-FFF2-40B4-BE49-F238E27FC236}">
                <a16:creationId xmlns:a16="http://schemas.microsoft.com/office/drawing/2014/main" id="{47F6ECB5-581C-A23A-0D44-890BD2739F9F}"/>
              </a:ext>
            </a:extLst>
          </p:cNvPr>
          <p:cNvPicPr>
            <a:picLocks noChangeAspect="1"/>
          </p:cNvPicPr>
          <p:nvPr/>
        </p:nvPicPr>
        <p:blipFill>
          <a:blip r:embed="rId3"/>
          <a:stretch>
            <a:fillRect/>
          </a:stretch>
        </p:blipFill>
        <p:spPr>
          <a:xfrm>
            <a:off x="11716404" y="7460694"/>
            <a:ext cx="2800350" cy="6632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82DD47-2E45-90F6-8FC5-DED23C267920}"/>
              </a:ext>
            </a:extLst>
          </p:cNvPr>
          <p:cNvSpPr txBox="1"/>
          <p:nvPr/>
        </p:nvSpPr>
        <p:spPr>
          <a:xfrm>
            <a:off x="3466532" y="1053490"/>
            <a:ext cx="7315200" cy="5663089"/>
          </a:xfrm>
          <a:prstGeom prst="rect">
            <a:avLst/>
          </a:prstGeom>
          <a:noFill/>
        </p:spPr>
        <p:txBody>
          <a:bodyPr wrap="square">
            <a:spAutoFit/>
          </a:bodyPr>
          <a:lstStyle/>
          <a:p>
            <a:r>
              <a:rPr lang="en-US" sz="2800" b="1" dirty="0"/>
              <a:t>Requirement Gathering</a:t>
            </a:r>
          </a:p>
          <a:p>
            <a:endParaRPr lang="en-US" sz="2800" dirty="0"/>
          </a:p>
          <a:p>
            <a:r>
              <a:rPr lang="en-US" dirty="0"/>
              <a:t>Information was collected through user observations, online research, and studying existing fitness applications. The main focus was to understand the common problems faced by users, such as lack of integration, difficulty in tracking progress, and absence of personalized </a:t>
            </a:r>
            <a:r>
              <a:rPr lang="en-US" dirty="0" err="1"/>
              <a:t>guidance.Based</a:t>
            </a:r>
            <a:r>
              <a:rPr lang="en-US" dirty="0"/>
              <a:t> on this, the requirements were divided into two categories:</a:t>
            </a:r>
          </a:p>
          <a:p>
            <a:endParaRPr lang="en-US" sz="2400" dirty="0"/>
          </a:p>
          <a:p>
            <a:pPr marL="342900" indent="-342900">
              <a:buAutoNum type="arabicPeriod"/>
            </a:pPr>
            <a:r>
              <a:rPr lang="en-US" sz="2400" b="1" dirty="0"/>
              <a:t>Functional Requirements</a:t>
            </a:r>
            <a:r>
              <a:rPr lang="en-US" dirty="0"/>
              <a:t>:</a:t>
            </a:r>
          </a:p>
          <a:p>
            <a:r>
              <a:rPr lang="en-US" dirty="0"/>
              <a:t> User registration and </a:t>
            </a:r>
            <a:r>
              <a:rPr lang="en-US" dirty="0" err="1"/>
              <a:t>loginRecording</a:t>
            </a:r>
            <a:r>
              <a:rPr lang="en-US" dirty="0"/>
              <a:t> and tracking </a:t>
            </a:r>
            <a:r>
              <a:rPr lang="en-US" dirty="0" err="1"/>
              <a:t>workoutsManaging</a:t>
            </a:r>
            <a:r>
              <a:rPr lang="en-US" dirty="0"/>
              <a:t>       diet/meal </a:t>
            </a:r>
            <a:r>
              <a:rPr lang="en-US" dirty="0" err="1"/>
              <a:t>plansStoring</a:t>
            </a:r>
            <a:r>
              <a:rPr lang="en-US" dirty="0"/>
              <a:t> basic medical </a:t>
            </a:r>
            <a:r>
              <a:rPr lang="en-US" dirty="0" err="1"/>
              <a:t>informationViewing</a:t>
            </a:r>
            <a:r>
              <a:rPr lang="en-US" dirty="0"/>
              <a:t> progress </a:t>
            </a:r>
            <a:r>
              <a:rPr lang="en-US" dirty="0" err="1"/>
              <a:t>reportsProviding</a:t>
            </a:r>
            <a:r>
              <a:rPr lang="en-US" dirty="0"/>
              <a:t> personalized </a:t>
            </a:r>
            <a:r>
              <a:rPr lang="en-US" dirty="0" err="1"/>
              <a:t>recommendationsChatbot</a:t>
            </a:r>
            <a:r>
              <a:rPr lang="en-US" dirty="0"/>
              <a:t> interaction for guidance</a:t>
            </a:r>
          </a:p>
          <a:p>
            <a:r>
              <a:rPr lang="en-US" dirty="0"/>
              <a:t>2. </a:t>
            </a:r>
            <a:r>
              <a:rPr lang="en-US" sz="2400" b="1" dirty="0"/>
              <a:t>Non-Functional Requirements</a:t>
            </a:r>
            <a:r>
              <a:rPr lang="en-US" dirty="0"/>
              <a:t>:</a:t>
            </a:r>
          </a:p>
          <a:p>
            <a:r>
              <a:rPr lang="en-US" dirty="0"/>
              <a:t>User-friendly </a:t>
            </a:r>
            <a:r>
              <a:rPr lang="en-US" dirty="0" err="1"/>
              <a:t>interfaceFast</a:t>
            </a:r>
            <a:r>
              <a:rPr lang="en-US" dirty="0"/>
              <a:t> and efficient </a:t>
            </a:r>
            <a:r>
              <a:rPr lang="en-US" dirty="0" err="1"/>
              <a:t>performanceData</a:t>
            </a:r>
            <a:r>
              <a:rPr lang="en-US" dirty="0"/>
              <a:t> accuracy and </a:t>
            </a:r>
            <a:r>
              <a:rPr lang="en-US" dirty="0" err="1"/>
              <a:t>reliabilitySecurity</a:t>
            </a:r>
            <a:r>
              <a:rPr lang="en-US" dirty="0"/>
              <a:t> of user </a:t>
            </a:r>
            <a:r>
              <a:rPr lang="en-US" dirty="0" err="1"/>
              <a:t>informationSystem</a:t>
            </a:r>
            <a:r>
              <a:rPr lang="en-US" dirty="0"/>
              <a:t> scalability and </a:t>
            </a:r>
            <a:r>
              <a:rPr lang="en-US" dirty="0" err="1"/>
              <a:t>flexibilityThe</a:t>
            </a:r>
            <a:r>
              <a:rPr lang="en-US" dirty="0"/>
              <a:t> analysis of these requirements helped in designing a system that is efficient, easy to use, and meets the needs of users effectively.</a:t>
            </a:r>
          </a:p>
        </p:txBody>
      </p:sp>
      <p:pic>
        <p:nvPicPr>
          <p:cNvPr id="3" name="Picture 2">
            <a:extLst>
              <a:ext uri="{FF2B5EF4-FFF2-40B4-BE49-F238E27FC236}">
                <a16:creationId xmlns:a16="http://schemas.microsoft.com/office/drawing/2014/main" id="{0A225659-8D88-012D-7B13-380E12CBF64C}"/>
              </a:ext>
            </a:extLst>
          </p:cNvPr>
          <p:cNvPicPr>
            <a:picLocks noChangeAspect="1"/>
          </p:cNvPicPr>
          <p:nvPr/>
        </p:nvPicPr>
        <p:blipFill>
          <a:blip r:embed="rId2"/>
          <a:stretch>
            <a:fillRect/>
          </a:stretch>
        </p:blipFill>
        <p:spPr>
          <a:xfrm>
            <a:off x="11830050" y="6591300"/>
            <a:ext cx="2800350" cy="1638300"/>
          </a:xfrm>
          <a:prstGeom prst="rect">
            <a:avLst/>
          </a:prstGeom>
        </p:spPr>
      </p:pic>
    </p:spTree>
    <p:extLst>
      <p:ext uri="{BB962C8B-B14F-4D97-AF65-F5344CB8AC3E}">
        <p14:creationId xmlns:p14="http://schemas.microsoft.com/office/powerpoint/2010/main" val="1617110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054791-6406-1F77-0C26-943CCCDC045C}"/>
              </a:ext>
            </a:extLst>
          </p:cNvPr>
          <p:cNvSpPr txBox="1"/>
          <p:nvPr/>
        </p:nvSpPr>
        <p:spPr>
          <a:xfrm>
            <a:off x="5428343" y="595085"/>
            <a:ext cx="2666564" cy="523220"/>
          </a:xfrm>
          <a:prstGeom prst="rect">
            <a:avLst/>
          </a:prstGeom>
          <a:noFill/>
        </p:spPr>
        <p:txBody>
          <a:bodyPr wrap="none" rtlCol="0">
            <a:spAutoFit/>
          </a:bodyPr>
          <a:lstStyle/>
          <a:p>
            <a:r>
              <a:rPr lang="en-US" sz="2800" b="1" dirty="0"/>
              <a:t>CLASS DIAGRAM</a:t>
            </a:r>
            <a:endParaRPr lang="en-IN" sz="2800" b="1" dirty="0"/>
          </a:p>
        </p:txBody>
      </p:sp>
      <p:pic>
        <p:nvPicPr>
          <p:cNvPr id="4" name="Picture 3">
            <a:extLst>
              <a:ext uri="{FF2B5EF4-FFF2-40B4-BE49-F238E27FC236}">
                <a16:creationId xmlns:a16="http://schemas.microsoft.com/office/drawing/2014/main" id="{4E76C8BA-1D0A-5661-0E79-20D0A7D66FBC}"/>
              </a:ext>
            </a:extLst>
          </p:cNvPr>
          <p:cNvPicPr>
            <a:picLocks noChangeAspect="1"/>
          </p:cNvPicPr>
          <p:nvPr/>
        </p:nvPicPr>
        <p:blipFill>
          <a:blip r:embed="rId2"/>
          <a:stretch>
            <a:fillRect/>
          </a:stretch>
        </p:blipFill>
        <p:spPr>
          <a:xfrm>
            <a:off x="420915" y="0"/>
            <a:ext cx="14078856" cy="8124825"/>
          </a:xfrm>
          <a:prstGeom prst="rect">
            <a:avLst/>
          </a:prstGeom>
        </p:spPr>
      </p:pic>
    </p:spTree>
    <p:extLst>
      <p:ext uri="{BB962C8B-B14F-4D97-AF65-F5344CB8AC3E}">
        <p14:creationId xmlns:p14="http://schemas.microsoft.com/office/powerpoint/2010/main" val="357273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8C2B2B-02EB-FE86-CF81-58B965FA8C1E}"/>
              </a:ext>
            </a:extLst>
          </p:cNvPr>
          <p:cNvPicPr>
            <a:picLocks noChangeAspect="1"/>
          </p:cNvPicPr>
          <p:nvPr/>
        </p:nvPicPr>
        <p:blipFill>
          <a:blip r:embed="rId2"/>
          <a:stretch>
            <a:fillRect/>
          </a:stretch>
        </p:blipFill>
        <p:spPr>
          <a:xfrm>
            <a:off x="1219199" y="52387"/>
            <a:ext cx="13251543" cy="8124825"/>
          </a:xfrm>
          <a:prstGeom prst="rect">
            <a:avLst/>
          </a:prstGeom>
        </p:spPr>
      </p:pic>
    </p:spTree>
    <p:extLst>
      <p:ext uri="{BB962C8B-B14F-4D97-AF65-F5344CB8AC3E}">
        <p14:creationId xmlns:p14="http://schemas.microsoft.com/office/powerpoint/2010/main" val="1740429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1C9B30-F1F2-F8EA-1983-1EABDC91EFCF}"/>
              </a:ext>
            </a:extLst>
          </p:cNvPr>
          <p:cNvSpPr txBox="1"/>
          <p:nvPr/>
        </p:nvSpPr>
        <p:spPr>
          <a:xfrm>
            <a:off x="3671248" y="1113979"/>
            <a:ext cx="7315200" cy="6093976"/>
          </a:xfrm>
          <a:prstGeom prst="rect">
            <a:avLst/>
          </a:prstGeom>
          <a:noFill/>
        </p:spPr>
        <p:txBody>
          <a:bodyPr wrap="square">
            <a:spAutoFit/>
          </a:bodyPr>
          <a:lstStyle/>
          <a:p>
            <a:r>
              <a:rPr lang="en-US" sz="3200" dirty="0"/>
              <a:t>Implementation Strategy </a:t>
            </a:r>
          </a:p>
          <a:p>
            <a:endParaRPr lang="en-US" dirty="0"/>
          </a:p>
          <a:p>
            <a:r>
              <a:rPr lang="en-US" sz="2000" dirty="0"/>
              <a:t>Requirement Analysis: Identify user needs like workout, diet, and health tracking.</a:t>
            </a:r>
          </a:p>
          <a:p>
            <a:endParaRPr lang="en-US" sz="2000" dirty="0"/>
          </a:p>
          <a:p>
            <a:r>
              <a:rPr lang="en-US" sz="2000" dirty="0"/>
              <a:t>Modular Development: Divide system into modules such as user, workout, diet, medical, and chatbot.</a:t>
            </a:r>
          </a:p>
          <a:p>
            <a:endParaRPr lang="en-US" sz="2000" dirty="0"/>
          </a:p>
          <a:p>
            <a:r>
              <a:rPr lang="en-US" sz="2000" dirty="0"/>
              <a:t>Incremental Approach: Develop and integrate modules step by step</a:t>
            </a:r>
          </a:p>
          <a:p>
            <a:r>
              <a:rPr lang="en-US" sz="2000" dirty="0"/>
              <a:t>Technology Used: HTML, CSS, JavaScript (frontend), PHP (backend), MySQL (database).</a:t>
            </a:r>
          </a:p>
          <a:p>
            <a:endParaRPr lang="en-US" sz="2000" dirty="0"/>
          </a:p>
          <a:p>
            <a:r>
              <a:rPr lang="en-US" sz="2000" dirty="0"/>
              <a:t>Testing: Perform unit, integration, system, and user acceptance testing.</a:t>
            </a:r>
          </a:p>
          <a:p>
            <a:endParaRPr lang="en-US" sz="2000" dirty="0"/>
          </a:p>
          <a:p>
            <a:r>
              <a:rPr lang="en-US" sz="2000" dirty="0"/>
              <a:t>Deployment: Deploy on local server or hosting platform.</a:t>
            </a:r>
          </a:p>
          <a:p>
            <a:endParaRPr lang="en-US" sz="2000" dirty="0"/>
          </a:p>
          <a:p>
            <a:r>
              <a:rPr lang="en-US" sz="2000" dirty="0"/>
              <a:t>Maintenance: Regular updates, bug fixes, and improvements based on feedback.</a:t>
            </a:r>
          </a:p>
        </p:txBody>
      </p:sp>
      <p:pic>
        <p:nvPicPr>
          <p:cNvPr id="4" name="Picture 3">
            <a:extLst>
              <a:ext uri="{FF2B5EF4-FFF2-40B4-BE49-F238E27FC236}">
                <a16:creationId xmlns:a16="http://schemas.microsoft.com/office/drawing/2014/main" id="{5E662527-3950-DCF1-AF56-4D452FD6A057}"/>
              </a:ext>
            </a:extLst>
          </p:cNvPr>
          <p:cNvPicPr>
            <a:picLocks noChangeAspect="1"/>
          </p:cNvPicPr>
          <p:nvPr/>
        </p:nvPicPr>
        <p:blipFill>
          <a:blip r:embed="rId2"/>
          <a:stretch>
            <a:fillRect/>
          </a:stretch>
        </p:blipFill>
        <p:spPr>
          <a:xfrm>
            <a:off x="11830050" y="6496957"/>
            <a:ext cx="2800350" cy="1638300"/>
          </a:xfrm>
          <a:prstGeom prst="rect">
            <a:avLst/>
          </a:prstGeom>
        </p:spPr>
      </p:pic>
    </p:spTree>
    <p:extLst>
      <p:ext uri="{BB962C8B-B14F-4D97-AF65-F5344CB8AC3E}">
        <p14:creationId xmlns:p14="http://schemas.microsoft.com/office/powerpoint/2010/main" val="3071857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9D4329-EA42-D662-CFE2-D54B51AF3244}"/>
              </a:ext>
            </a:extLst>
          </p:cNvPr>
          <p:cNvSpPr txBox="1"/>
          <p:nvPr/>
        </p:nvSpPr>
        <p:spPr>
          <a:xfrm>
            <a:off x="4963885" y="592983"/>
            <a:ext cx="3655168" cy="584775"/>
          </a:xfrm>
          <a:prstGeom prst="rect">
            <a:avLst/>
          </a:prstGeom>
          <a:noFill/>
        </p:spPr>
        <p:txBody>
          <a:bodyPr wrap="none" rtlCol="0">
            <a:spAutoFit/>
          </a:bodyPr>
          <a:lstStyle/>
          <a:p>
            <a:r>
              <a:rPr lang="en-US" sz="3200" b="1" dirty="0"/>
              <a:t>INPUT AND OUTPUT</a:t>
            </a:r>
            <a:endParaRPr lang="en-IN" sz="3200" b="1" dirty="0"/>
          </a:p>
        </p:txBody>
      </p:sp>
      <p:pic>
        <p:nvPicPr>
          <p:cNvPr id="4" name="Picture 3">
            <a:extLst>
              <a:ext uri="{FF2B5EF4-FFF2-40B4-BE49-F238E27FC236}">
                <a16:creationId xmlns:a16="http://schemas.microsoft.com/office/drawing/2014/main" id="{735F3854-1F2B-735E-DA25-34B228EBB869}"/>
              </a:ext>
            </a:extLst>
          </p:cNvPr>
          <p:cNvPicPr>
            <a:picLocks noChangeAspect="1"/>
          </p:cNvPicPr>
          <p:nvPr/>
        </p:nvPicPr>
        <p:blipFill>
          <a:blip r:embed="rId2"/>
          <a:stretch>
            <a:fillRect/>
          </a:stretch>
        </p:blipFill>
        <p:spPr>
          <a:xfrm>
            <a:off x="169610" y="1801872"/>
            <a:ext cx="3952447" cy="6253557"/>
          </a:xfrm>
          <a:prstGeom prst="rect">
            <a:avLst/>
          </a:prstGeom>
        </p:spPr>
      </p:pic>
      <p:pic>
        <p:nvPicPr>
          <p:cNvPr id="6" name="Picture 5">
            <a:extLst>
              <a:ext uri="{FF2B5EF4-FFF2-40B4-BE49-F238E27FC236}">
                <a16:creationId xmlns:a16="http://schemas.microsoft.com/office/drawing/2014/main" id="{B50194D3-9552-7676-F069-B4F3125E2DF7}"/>
              </a:ext>
            </a:extLst>
          </p:cNvPr>
          <p:cNvPicPr>
            <a:picLocks noChangeAspect="1"/>
          </p:cNvPicPr>
          <p:nvPr/>
        </p:nvPicPr>
        <p:blipFill>
          <a:blip r:embed="rId3"/>
          <a:stretch>
            <a:fillRect/>
          </a:stretch>
        </p:blipFill>
        <p:spPr>
          <a:xfrm>
            <a:off x="4441373" y="1801872"/>
            <a:ext cx="4811188" cy="6543842"/>
          </a:xfrm>
          <a:prstGeom prst="rect">
            <a:avLst/>
          </a:prstGeom>
        </p:spPr>
      </p:pic>
      <p:pic>
        <p:nvPicPr>
          <p:cNvPr id="8" name="Picture 7">
            <a:extLst>
              <a:ext uri="{FF2B5EF4-FFF2-40B4-BE49-F238E27FC236}">
                <a16:creationId xmlns:a16="http://schemas.microsoft.com/office/drawing/2014/main" id="{ABAED583-3E83-8285-2008-87F5BEAA6A92}"/>
              </a:ext>
            </a:extLst>
          </p:cNvPr>
          <p:cNvPicPr>
            <a:picLocks noChangeAspect="1"/>
          </p:cNvPicPr>
          <p:nvPr/>
        </p:nvPicPr>
        <p:blipFill>
          <a:blip r:embed="rId4"/>
          <a:stretch>
            <a:fillRect/>
          </a:stretch>
        </p:blipFill>
        <p:spPr>
          <a:xfrm>
            <a:off x="9702505" y="1801872"/>
            <a:ext cx="4635413" cy="6792686"/>
          </a:xfrm>
          <a:prstGeom prst="rect">
            <a:avLst/>
          </a:prstGeom>
        </p:spPr>
      </p:pic>
    </p:spTree>
    <p:extLst>
      <p:ext uri="{BB962C8B-B14F-4D97-AF65-F5344CB8AC3E}">
        <p14:creationId xmlns:p14="http://schemas.microsoft.com/office/powerpoint/2010/main" val="395250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E7F46F-1FFA-5DEE-A5C4-B97F9A2524EA}"/>
              </a:ext>
            </a:extLst>
          </p:cNvPr>
          <p:cNvPicPr>
            <a:picLocks noChangeAspect="1"/>
          </p:cNvPicPr>
          <p:nvPr/>
        </p:nvPicPr>
        <p:blipFill>
          <a:blip r:embed="rId2"/>
          <a:stretch>
            <a:fillRect/>
          </a:stretch>
        </p:blipFill>
        <p:spPr>
          <a:xfrm>
            <a:off x="1295111" y="537029"/>
            <a:ext cx="4960546" cy="7532914"/>
          </a:xfrm>
          <a:prstGeom prst="rect">
            <a:avLst/>
          </a:prstGeom>
        </p:spPr>
      </p:pic>
      <p:pic>
        <p:nvPicPr>
          <p:cNvPr id="5" name="Picture 4">
            <a:extLst>
              <a:ext uri="{FF2B5EF4-FFF2-40B4-BE49-F238E27FC236}">
                <a16:creationId xmlns:a16="http://schemas.microsoft.com/office/drawing/2014/main" id="{196EFA2A-1B54-89CE-C92D-CAD97496FB10}"/>
              </a:ext>
            </a:extLst>
          </p:cNvPr>
          <p:cNvPicPr>
            <a:picLocks noChangeAspect="1"/>
          </p:cNvPicPr>
          <p:nvPr/>
        </p:nvPicPr>
        <p:blipFill>
          <a:blip r:embed="rId3"/>
          <a:stretch>
            <a:fillRect/>
          </a:stretch>
        </p:blipFill>
        <p:spPr>
          <a:xfrm>
            <a:off x="8065406" y="537029"/>
            <a:ext cx="6419852" cy="7532915"/>
          </a:xfrm>
          <a:prstGeom prst="rect">
            <a:avLst/>
          </a:prstGeom>
        </p:spPr>
      </p:pic>
    </p:spTree>
    <p:extLst>
      <p:ext uri="{BB962C8B-B14F-4D97-AF65-F5344CB8AC3E}">
        <p14:creationId xmlns:p14="http://schemas.microsoft.com/office/powerpoint/2010/main" val="2027431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1A1D8C-7BD4-D907-915E-F93B082DBF4F}"/>
              </a:ext>
            </a:extLst>
          </p:cNvPr>
          <p:cNvPicPr>
            <a:picLocks noChangeAspect="1"/>
          </p:cNvPicPr>
          <p:nvPr/>
        </p:nvPicPr>
        <p:blipFill>
          <a:blip r:embed="rId2"/>
          <a:stretch>
            <a:fillRect/>
          </a:stretch>
        </p:blipFill>
        <p:spPr>
          <a:xfrm>
            <a:off x="557957" y="0"/>
            <a:ext cx="6563812" cy="8071338"/>
          </a:xfrm>
          <a:prstGeom prst="rect">
            <a:avLst/>
          </a:prstGeom>
        </p:spPr>
      </p:pic>
      <p:pic>
        <p:nvPicPr>
          <p:cNvPr id="5" name="Picture 4">
            <a:extLst>
              <a:ext uri="{FF2B5EF4-FFF2-40B4-BE49-F238E27FC236}">
                <a16:creationId xmlns:a16="http://schemas.microsoft.com/office/drawing/2014/main" id="{48F20887-09F6-29C0-E08B-27A649BB6158}"/>
              </a:ext>
            </a:extLst>
          </p:cNvPr>
          <p:cNvPicPr>
            <a:picLocks noChangeAspect="1"/>
          </p:cNvPicPr>
          <p:nvPr/>
        </p:nvPicPr>
        <p:blipFill>
          <a:blip r:embed="rId3"/>
          <a:stretch>
            <a:fillRect/>
          </a:stretch>
        </p:blipFill>
        <p:spPr>
          <a:xfrm>
            <a:off x="7904224" y="0"/>
            <a:ext cx="6726175" cy="8229600"/>
          </a:xfrm>
          <a:prstGeom prst="rect">
            <a:avLst/>
          </a:prstGeom>
        </p:spPr>
      </p:pic>
    </p:spTree>
    <p:extLst>
      <p:ext uri="{BB962C8B-B14F-4D97-AF65-F5344CB8AC3E}">
        <p14:creationId xmlns:p14="http://schemas.microsoft.com/office/powerpoint/2010/main" val="2825601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260" y="754856"/>
            <a:ext cx="12905780" cy="664488"/>
          </a:xfrm>
          <a:prstGeom prst="rect">
            <a:avLst/>
          </a:prstGeom>
          <a:noFill/>
          <a:ln/>
        </p:spPr>
        <p:txBody>
          <a:bodyPr wrap="none" lIns="0" tIns="0" rIns="0" bIns="0" rtlCol="0" anchor="t"/>
          <a:lstStyle/>
          <a:p>
            <a:pPr marL="0" indent="0" algn="l">
              <a:lnSpc>
                <a:spcPts val="5200"/>
              </a:lnSpc>
              <a:buNone/>
            </a:pPr>
            <a:r>
              <a:rPr lang="en-US" sz="4150" dirty="0">
                <a:solidFill>
                  <a:srgbClr val="3A3A3A"/>
                </a:solidFill>
                <a:latin typeface="Noto Serif Medium" pitchFamily="34" charset="0"/>
                <a:ea typeface="Noto Serif Medium" pitchFamily="34" charset="-122"/>
                <a:cs typeface="Noto Serif Medium" pitchFamily="34" charset="-120"/>
              </a:rPr>
              <a:t>Blueprint for Success: System Architecture &amp; Flow</a:t>
            </a:r>
            <a:endParaRPr lang="en-US" sz="4150" dirty="0"/>
          </a:p>
        </p:txBody>
      </p:sp>
      <p:pic>
        <p:nvPicPr>
          <p:cNvPr id="3" name="Image 0" descr="preencoded.png"/>
          <p:cNvPicPr>
            <a:picLocks noChangeAspect="1"/>
          </p:cNvPicPr>
          <p:nvPr/>
        </p:nvPicPr>
        <p:blipFill>
          <a:blip r:embed="rId3"/>
          <a:stretch>
            <a:fillRect/>
          </a:stretch>
        </p:blipFill>
        <p:spPr>
          <a:xfrm>
            <a:off x="954643" y="1817965"/>
            <a:ext cx="12720995" cy="4773454"/>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86286" y="3042217"/>
            <a:ext cx="652389" cy="652389"/>
          </a:xfrm>
          <a:prstGeom prst="rect">
            <a:avLst/>
          </a:prstGeom>
        </p:spPr>
      </p:pic>
      <p:sp>
        <p:nvSpPr>
          <p:cNvPr id="5" name="Text 1"/>
          <p:cNvSpPr/>
          <p:nvPr/>
        </p:nvSpPr>
        <p:spPr>
          <a:xfrm>
            <a:off x="11233046" y="5247814"/>
            <a:ext cx="1918688" cy="739220"/>
          </a:xfrm>
          <a:prstGeom prst="rect">
            <a:avLst/>
          </a:prstGeom>
          <a:noFill/>
          <a:ln/>
        </p:spPr>
        <p:txBody>
          <a:bodyPr wrap="square" lIns="0" tIns="0" rIns="0" bIns="0" rtlCol="0" anchor="t"/>
          <a:lstStyle/>
          <a:p>
            <a:pPr marL="0" indent="0" algn="ctr">
              <a:lnSpc>
                <a:spcPts val="2900"/>
              </a:lnSpc>
              <a:buNone/>
            </a:pPr>
            <a:r>
              <a:rPr lang="en-US" sz="2300" dirty="0">
                <a:solidFill>
                  <a:srgbClr val="4C4C4C"/>
                </a:solidFill>
                <a:latin typeface="Noto Serif Medium" pitchFamily="34" charset="0"/>
                <a:ea typeface="Noto Serif Medium" pitchFamily="34" charset="-122"/>
                <a:cs typeface="Noto Serif Medium" pitchFamily="34" charset="-120"/>
              </a:rPr>
              <a:t>Track &amp; Adjust</a:t>
            </a:r>
            <a:endParaRPr lang="en-US" sz="230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7931" y="3043440"/>
            <a:ext cx="652388" cy="652389"/>
          </a:xfrm>
          <a:prstGeom prst="rect">
            <a:avLst/>
          </a:prstGeom>
        </p:spPr>
      </p:pic>
      <p:sp>
        <p:nvSpPr>
          <p:cNvPr id="7" name="Text 2"/>
          <p:cNvSpPr/>
          <p:nvPr/>
        </p:nvSpPr>
        <p:spPr>
          <a:xfrm>
            <a:off x="8814975" y="5432619"/>
            <a:ext cx="1918688" cy="369610"/>
          </a:xfrm>
          <a:prstGeom prst="rect">
            <a:avLst/>
          </a:prstGeom>
          <a:noFill/>
          <a:ln/>
        </p:spPr>
        <p:txBody>
          <a:bodyPr wrap="none" lIns="0" tIns="0" rIns="0" bIns="0" rtlCol="0" anchor="t"/>
          <a:lstStyle/>
          <a:p>
            <a:pPr marL="0" indent="0" algn="ctr">
              <a:lnSpc>
                <a:spcPts val="2900"/>
              </a:lnSpc>
              <a:buNone/>
            </a:pPr>
            <a:r>
              <a:rPr lang="en-US" sz="2300" dirty="0">
                <a:solidFill>
                  <a:srgbClr val="4C4C4C"/>
                </a:solidFill>
                <a:latin typeface="Noto Serif Medium" pitchFamily="34" charset="0"/>
                <a:ea typeface="Noto Serif Medium" pitchFamily="34" charset="-122"/>
                <a:cs typeface="Noto Serif Medium" pitchFamily="34" charset="-120"/>
              </a:rPr>
              <a:t>Log Activity</a:t>
            </a:r>
            <a:endParaRPr lang="en-US" sz="230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0188" y="3043440"/>
            <a:ext cx="652389" cy="652389"/>
          </a:xfrm>
          <a:prstGeom prst="rect">
            <a:avLst/>
          </a:prstGeom>
        </p:spPr>
      </p:pic>
      <p:sp>
        <p:nvSpPr>
          <p:cNvPr id="9" name="Text 3"/>
          <p:cNvSpPr/>
          <p:nvPr/>
        </p:nvSpPr>
        <p:spPr>
          <a:xfrm>
            <a:off x="6410046" y="5432619"/>
            <a:ext cx="1918687" cy="369610"/>
          </a:xfrm>
          <a:prstGeom prst="rect">
            <a:avLst/>
          </a:prstGeom>
          <a:noFill/>
          <a:ln/>
        </p:spPr>
        <p:txBody>
          <a:bodyPr wrap="none" lIns="0" tIns="0" rIns="0" bIns="0" rtlCol="0" anchor="t"/>
          <a:lstStyle/>
          <a:p>
            <a:pPr marL="0" indent="0" algn="ctr">
              <a:lnSpc>
                <a:spcPts val="2900"/>
              </a:lnSpc>
              <a:buNone/>
            </a:pPr>
            <a:r>
              <a:rPr lang="en-US" sz="2300" dirty="0">
                <a:solidFill>
                  <a:srgbClr val="4C4C4C"/>
                </a:solidFill>
                <a:latin typeface="Noto Serif Medium" pitchFamily="34" charset="0"/>
                <a:ea typeface="Noto Serif Medium" pitchFamily="34" charset="-122"/>
                <a:cs typeface="Noto Serif Medium" pitchFamily="34" charset="-120"/>
              </a:rPr>
              <a:t>Choose Plan</a:t>
            </a:r>
            <a:endParaRPr lang="en-US" sz="230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2445" y="3043440"/>
            <a:ext cx="652389" cy="652389"/>
          </a:xfrm>
          <a:prstGeom prst="rect">
            <a:avLst/>
          </a:prstGeom>
        </p:spPr>
      </p:pic>
      <p:sp>
        <p:nvSpPr>
          <p:cNvPr id="11" name="Text 4"/>
          <p:cNvSpPr/>
          <p:nvPr/>
        </p:nvSpPr>
        <p:spPr>
          <a:xfrm>
            <a:off x="4005116" y="5432619"/>
            <a:ext cx="1918687" cy="369610"/>
          </a:xfrm>
          <a:prstGeom prst="rect">
            <a:avLst/>
          </a:prstGeom>
          <a:noFill/>
          <a:ln/>
        </p:spPr>
        <p:txBody>
          <a:bodyPr wrap="none" lIns="0" tIns="0" rIns="0" bIns="0" rtlCol="0" anchor="t"/>
          <a:lstStyle/>
          <a:p>
            <a:pPr marL="0" indent="0" algn="ctr">
              <a:lnSpc>
                <a:spcPts val="2900"/>
              </a:lnSpc>
              <a:buNone/>
            </a:pPr>
            <a:r>
              <a:rPr lang="en-US" sz="2300" dirty="0">
                <a:solidFill>
                  <a:srgbClr val="4C4C4C"/>
                </a:solidFill>
                <a:latin typeface="Noto Serif Medium" pitchFamily="34" charset="0"/>
                <a:ea typeface="Noto Serif Medium" pitchFamily="34" charset="-122"/>
                <a:cs typeface="Noto Serif Medium" pitchFamily="34" charset="-120"/>
              </a:rPr>
              <a:t>Set Goals</a:t>
            </a:r>
            <a:endParaRPr lang="en-US" sz="230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21654" y="3043440"/>
            <a:ext cx="652389" cy="652389"/>
          </a:xfrm>
          <a:prstGeom prst="rect">
            <a:avLst/>
          </a:prstGeom>
        </p:spPr>
      </p:pic>
      <p:sp>
        <p:nvSpPr>
          <p:cNvPr id="13" name="Text 5"/>
          <p:cNvSpPr/>
          <p:nvPr/>
        </p:nvSpPr>
        <p:spPr>
          <a:xfrm>
            <a:off x="1547620" y="5432619"/>
            <a:ext cx="1918687" cy="369610"/>
          </a:xfrm>
          <a:prstGeom prst="rect">
            <a:avLst/>
          </a:prstGeom>
          <a:noFill/>
          <a:ln/>
        </p:spPr>
        <p:txBody>
          <a:bodyPr wrap="none" lIns="0" tIns="0" rIns="0" bIns="0" rtlCol="0" anchor="t"/>
          <a:lstStyle/>
          <a:p>
            <a:pPr marL="0" indent="0" algn="ctr">
              <a:lnSpc>
                <a:spcPts val="2900"/>
              </a:lnSpc>
              <a:buNone/>
            </a:pPr>
            <a:r>
              <a:rPr lang="en-US" sz="2300" dirty="0">
                <a:solidFill>
                  <a:srgbClr val="4C4C4C"/>
                </a:solidFill>
                <a:latin typeface="Noto Serif Medium" pitchFamily="34" charset="0"/>
                <a:ea typeface="Noto Serif Medium" pitchFamily="34" charset="-122"/>
                <a:cs typeface="Noto Serif Medium" pitchFamily="34" charset="-120"/>
              </a:rPr>
              <a:t>Register</a:t>
            </a:r>
            <a:endParaRPr lang="en-US" sz="2300" dirty="0"/>
          </a:p>
        </p:txBody>
      </p:sp>
      <p:sp>
        <p:nvSpPr>
          <p:cNvPr id="14" name="Text 6"/>
          <p:cNvSpPr/>
          <p:nvPr/>
        </p:nvSpPr>
        <p:spPr>
          <a:xfrm>
            <a:off x="744260" y="6815614"/>
            <a:ext cx="13141881" cy="659130"/>
          </a:xfrm>
          <a:prstGeom prst="rect">
            <a:avLst/>
          </a:prstGeom>
          <a:noFill/>
          <a:ln/>
        </p:spPr>
        <p:txBody>
          <a:bodyPr wrap="square" lIns="0" tIns="0" rIns="0" bIns="0" rtlCol="0" anchor="t"/>
          <a:lstStyle/>
          <a:p>
            <a:pPr marL="0" indent="0" algn="l">
              <a:lnSpc>
                <a:spcPts val="2550"/>
              </a:lnSpc>
              <a:buNone/>
            </a:pPr>
            <a:r>
              <a:rPr lang="en-US" sz="1650" dirty="0">
                <a:solidFill>
                  <a:srgbClr val="4C4C4C"/>
                </a:solidFill>
                <a:latin typeface="Noto Serif" pitchFamily="34" charset="0"/>
                <a:ea typeface="Noto Serif" pitchFamily="34" charset="-122"/>
                <a:cs typeface="Noto Serif" pitchFamily="34" charset="-120"/>
              </a:rPr>
              <a:t>The system follows a clean client-server architecture. Users interact through the mobile app, which communicates with the backend API. Data is stored securely and processed to deliver personalised recommendations and progress reports in real time.</a:t>
            </a:r>
            <a:endParaRPr lang="en-US" sz="1650" dirty="0"/>
          </a:p>
        </p:txBody>
      </p:sp>
      <p:pic>
        <p:nvPicPr>
          <p:cNvPr id="16" name="Picture 15">
            <a:extLst>
              <a:ext uri="{FF2B5EF4-FFF2-40B4-BE49-F238E27FC236}">
                <a16:creationId xmlns:a16="http://schemas.microsoft.com/office/drawing/2014/main" id="{BB2A990B-AB11-42EA-C731-231DBFEBCD55}"/>
              </a:ext>
            </a:extLst>
          </p:cNvPr>
          <p:cNvPicPr>
            <a:picLocks noChangeAspect="1"/>
          </p:cNvPicPr>
          <p:nvPr/>
        </p:nvPicPr>
        <p:blipFill>
          <a:blip r:embed="rId9"/>
          <a:stretch>
            <a:fillRect/>
          </a:stretch>
        </p:blipFill>
        <p:spPr>
          <a:xfrm>
            <a:off x="11858867" y="7698939"/>
            <a:ext cx="2800350" cy="4456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09C96-5039-9CD8-4314-F08AC015300D}"/>
              </a:ext>
            </a:extLst>
          </p:cNvPr>
          <p:cNvSpPr txBox="1"/>
          <p:nvPr/>
        </p:nvSpPr>
        <p:spPr>
          <a:xfrm>
            <a:off x="1988457" y="943429"/>
            <a:ext cx="8984343" cy="5570756"/>
          </a:xfrm>
          <a:prstGeom prst="rect">
            <a:avLst/>
          </a:prstGeom>
          <a:noFill/>
        </p:spPr>
        <p:txBody>
          <a:bodyPr wrap="square">
            <a:spAutoFit/>
          </a:bodyPr>
          <a:lstStyle/>
          <a:p>
            <a:r>
              <a:rPr lang="en-US" sz="3200" b="1" dirty="0"/>
              <a:t>Conclusion</a:t>
            </a:r>
          </a:p>
          <a:p>
            <a:endParaRPr lang="en-US" dirty="0"/>
          </a:p>
          <a:p>
            <a:endParaRPr lang="en-US" dirty="0"/>
          </a:p>
          <a:p>
            <a:r>
              <a:rPr lang="en-US" sz="2400" dirty="0"/>
              <a:t>The </a:t>
            </a:r>
            <a:r>
              <a:rPr lang="en-US" sz="2400" dirty="0" err="1"/>
              <a:t>FitLife</a:t>
            </a:r>
            <a:r>
              <a:rPr lang="en-US" sz="2400" dirty="0"/>
              <a:t> project was successfully developed with the aim of simplifying and improving fitness and health management. The system provides a centralized and user-friendly platform to manage workouts, diet plans, medical records, and overall progress. Through this project, we were able to apply theoretical knowledge into a practical application, enhancing our understanding of web development, system design, and database management. It also helped in improving problem-solving skills and gaining hands-on experience in building a real-world system. Overall, the project achieves its objective of reducing manual effort, improving data organization, and promoting a healthy lifestyle. The system can be further enhanced with advanced features and scalability improvements in the future.</a:t>
            </a:r>
          </a:p>
        </p:txBody>
      </p:sp>
      <p:pic>
        <p:nvPicPr>
          <p:cNvPr id="4" name="Picture 3">
            <a:extLst>
              <a:ext uri="{FF2B5EF4-FFF2-40B4-BE49-F238E27FC236}">
                <a16:creationId xmlns:a16="http://schemas.microsoft.com/office/drawing/2014/main" id="{8D48EF52-831B-A7B7-77F5-28091B616376}"/>
              </a:ext>
            </a:extLst>
          </p:cNvPr>
          <p:cNvPicPr>
            <a:picLocks noChangeAspect="1"/>
          </p:cNvPicPr>
          <p:nvPr/>
        </p:nvPicPr>
        <p:blipFill>
          <a:blip r:embed="rId2"/>
          <a:stretch>
            <a:fillRect/>
          </a:stretch>
        </p:blipFill>
        <p:spPr>
          <a:xfrm>
            <a:off x="11830050" y="6514185"/>
            <a:ext cx="2800350" cy="1638300"/>
          </a:xfrm>
          <a:prstGeom prst="rect">
            <a:avLst/>
          </a:prstGeom>
        </p:spPr>
      </p:pic>
    </p:spTree>
    <p:extLst>
      <p:ext uri="{BB962C8B-B14F-4D97-AF65-F5344CB8AC3E}">
        <p14:creationId xmlns:p14="http://schemas.microsoft.com/office/powerpoint/2010/main" val="361858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743"/>
          </a:xfrm>
          <a:prstGeom prst="rect">
            <a:avLst/>
          </a:prstGeom>
        </p:spPr>
      </p:pic>
      <p:sp>
        <p:nvSpPr>
          <p:cNvPr id="3" name="Text 0"/>
          <p:cNvSpPr/>
          <p:nvPr/>
        </p:nvSpPr>
        <p:spPr>
          <a:xfrm>
            <a:off x="682228" y="536019"/>
            <a:ext cx="7779544" cy="1218248"/>
          </a:xfrm>
          <a:prstGeom prst="rect">
            <a:avLst/>
          </a:prstGeom>
          <a:noFill/>
          <a:ln/>
        </p:spPr>
        <p:txBody>
          <a:bodyPr wrap="square" lIns="0" tIns="0" rIns="0" bIns="0" rtlCol="0" anchor="t"/>
          <a:lstStyle/>
          <a:p>
            <a:pPr marL="0" indent="0" algn="l">
              <a:lnSpc>
                <a:spcPts val="4750"/>
              </a:lnSpc>
              <a:buNone/>
            </a:pPr>
            <a:r>
              <a:rPr lang="en-US" sz="3800" dirty="0">
                <a:solidFill>
                  <a:srgbClr val="3A3A3A"/>
                </a:solidFill>
                <a:latin typeface="Noto Serif Medium" pitchFamily="34" charset="0"/>
                <a:ea typeface="Noto Serif Medium" pitchFamily="34" charset="-122"/>
                <a:cs typeface="Noto Serif Medium" pitchFamily="34" charset="-120"/>
              </a:rPr>
              <a:t>The Road Ahead: Future Enhancements and Growth</a:t>
            </a:r>
            <a:endParaRPr lang="en-US" sz="3800" dirty="0"/>
          </a:p>
        </p:txBody>
      </p:sp>
      <p:sp>
        <p:nvSpPr>
          <p:cNvPr id="4" name="Text 1"/>
          <p:cNvSpPr/>
          <p:nvPr/>
        </p:nvSpPr>
        <p:spPr>
          <a:xfrm>
            <a:off x="682228" y="2005489"/>
            <a:ext cx="7779544" cy="579834"/>
          </a:xfrm>
          <a:prstGeom prst="rect">
            <a:avLst/>
          </a:prstGeom>
          <a:noFill/>
          <a:ln/>
        </p:spPr>
        <p:txBody>
          <a:bodyPr wrap="square" lIns="0" tIns="0" rIns="0" bIns="0" rtlCol="0" anchor="t"/>
          <a:lstStyle/>
          <a:p>
            <a:pPr marL="0" indent="0" algn="l">
              <a:lnSpc>
                <a:spcPts val="2250"/>
              </a:lnSpc>
              <a:buNone/>
            </a:pPr>
            <a:r>
              <a:rPr lang="en-US" sz="1500" dirty="0">
                <a:solidFill>
                  <a:srgbClr val="4C4C4C"/>
                </a:solidFill>
                <a:latin typeface="Noto Serif" pitchFamily="34" charset="0"/>
                <a:ea typeface="Noto Serif" pitchFamily="34" charset="-122"/>
                <a:cs typeface="Noto Serif" pitchFamily="34" charset="-120"/>
              </a:rPr>
              <a:t>Fitlife is just getting started. Our roadmap is designed to evolve with our users and the broader wellness ecosystem.</a:t>
            </a:r>
            <a:endParaRPr lang="en-US" sz="1500" dirty="0"/>
          </a:p>
        </p:txBody>
      </p:sp>
      <p:sp>
        <p:nvSpPr>
          <p:cNvPr id="5" name="Shape 2"/>
          <p:cNvSpPr/>
          <p:nvPr/>
        </p:nvSpPr>
        <p:spPr>
          <a:xfrm>
            <a:off x="901422" y="2773680"/>
            <a:ext cx="22860" cy="4922044"/>
          </a:xfrm>
          <a:prstGeom prst="roundRect">
            <a:avLst>
              <a:gd name="adj" fmla="val 358140"/>
            </a:avLst>
          </a:prstGeom>
          <a:solidFill>
            <a:srgbClr val="000000">
              <a:alpha val="8000"/>
            </a:srgbClr>
          </a:solidFill>
          <a:ln/>
        </p:spPr>
      </p:sp>
      <p:sp>
        <p:nvSpPr>
          <p:cNvPr id="6" name="Shape 3"/>
          <p:cNvSpPr/>
          <p:nvPr/>
        </p:nvSpPr>
        <p:spPr>
          <a:xfrm>
            <a:off x="1097816" y="2981444"/>
            <a:ext cx="584716" cy="22860"/>
          </a:xfrm>
          <a:prstGeom prst="roundRect">
            <a:avLst>
              <a:gd name="adj" fmla="val 358140"/>
            </a:avLst>
          </a:prstGeom>
          <a:solidFill>
            <a:srgbClr val="CCC4B8"/>
          </a:solidFill>
          <a:ln/>
        </p:spPr>
      </p:sp>
      <p:sp>
        <p:nvSpPr>
          <p:cNvPr id="7" name="Shape 4"/>
          <p:cNvSpPr/>
          <p:nvPr/>
        </p:nvSpPr>
        <p:spPr>
          <a:xfrm>
            <a:off x="682169" y="2773680"/>
            <a:ext cx="438507" cy="438507"/>
          </a:xfrm>
          <a:prstGeom prst="roundRect">
            <a:avLst>
              <a:gd name="adj" fmla="val 18670"/>
            </a:avLst>
          </a:prstGeom>
          <a:solidFill>
            <a:srgbClr val="E6DED2">
              <a:alpha val="50000"/>
            </a:srgbClr>
          </a:solidFill>
          <a:ln w="7620">
            <a:solidFill>
              <a:srgbClr val="CCC4B8"/>
            </a:solidFill>
            <a:prstDash val="solid"/>
          </a:ln>
          <a:effectLst>
            <a:outerShdw dist="25400" dir="2700000" algn="bl" rotWithShape="0">
              <a:srgbClr val="CCC4B8">
                <a:alpha val="100000"/>
              </a:srgbClr>
            </a:outerShdw>
          </a:effectLst>
        </p:spPr>
      </p:sp>
      <p:sp>
        <p:nvSpPr>
          <p:cNvPr id="8" name="Text 5"/>
          <p:cNvSpPr/>
          <p:nvPr/>
        </p:nvSpPr>
        <p:spPr>
          <a:xfrm>
            <a:off x="755213" y="2810173"/>
            <a:ext cx="292298" cy="365403"/>
          </a:xfrm>
          <a:prstGeom prst="rect">
            <a:avLst/>
          </a:prstGeom>
          <a:noFill/>
          <a:ln/>
        </p:spPr>
        <p:txBody>
          <a:bodyPr wrap="none" lIns="0" tIns="0" rIns="0" bIns="0" rtlCol="0" anchor="t"/>
          <a:lstStyle/>
          <a:p>
            <a:pPr marL="0" indent="0" algn="ctr">
              <a:lnSpc>
                <a:spcPts val="2300"/>
              </a:lnSpc>
              <a:buNone/>
            </a:pPr>
            <a:r>
              <a:rPr lang="en-US" sz="2300" dirty="0">
                <a:solidFill>
                  <a:srgbClr val="000000"/>
                </a:solidFill>
                <a:latin typeface="Noto Serif Medium" pitchFamily="34" charset="0"/>
                <a:ea typeface="Noto Serif Medium" pitchFamily="34" charset="-122"/>
                <a:cs typeface="Noto Serif Medium" pitchFamily="34" charset="-120"/>
              </a:rPr>
              <a:t>1</a:t>
            </a:r>
            <a:endParaRPr lang="en-US" sz="2300" dirty="0"/>
          </a:p>
        </p:txBody>
      </p:sp>
      <p:sp>
        <p:nvSpPr>
          <p:cNvPr id="9" name="Text 6"/>
          <p:cNvSpPr/>
          <p:nvPr/>
        </p:nvSpPr>
        <p:spPr>
          <a:xfrm>
            <a:off x="1876068" y="2840593"/>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4C4C4C"/>
                </a:solidFill>
                <a:latin typeface="Noto Serif Medium" pitchFamily="34" charset="0"/>
                <a:ea typeface="Noto Serif Medium" pitchFamily="34" charset="-122"/>
                <a:cs typeface="Noto Serif Medium" pitchFamily="34" charset="-120"/>
              </a:rPr>
              <a:t>Phase 1 — Launch</a:t>
            </a:r>
            <a:endParaRPr lang="en-US" sz="1900" dirty="0"/>
          </a:p>
        </p:txBody>
      </p:sp>
      <p:sp>
        <p:nvSpPr>
          <p:cNvPr id="10" name="Text 7"/>
          <p:cNvSpPr/>
          <p:nvPr/>
        </p:nvSpPr>
        <p:spPr>
          <a:xfrm>
            <a:off x="1876068" y="3245644"/>
            <a:ext cx="6585704" cy="289917"/>
          </a:xfrm>
          <a:prstGeom prst="rect">
            <a:avLst/>
          </a:prstGeom>
          <a:noFill/>
          <a:ln/>
        </p:spPr>
        <p:txBody>
          <a:bodyPr wrap="none" lIns="0" tIns="0" rIns="0" bIns="0" rtlCol="0" anchor="t"/>
          <a:lstStyle/>
          <a:p>
            <a:pPr marL="0" indent="0" algn="l">
              <a:lnSpc>
                <a:spcPts val="2250"/>
              </a:lnSpc>
              <a:buNone/>
            </a:pPr>
            <a:r>
              <a:rPr lang="en-US" sz="1500" dirty="0">
                <a:solidFill>
                  <a:srgbClr val="4C4C4C"/>
                </a:solidFill>
                <a:latin typeface="Noto Serif" pitchFamily="34" charset="0"/>
                <a:ea typeface="Noto Serif" pitchFamily="34" charset="-122"/>
                <a:cs typeface="Noto Serif" pitchFamily="34" charset="-120"/>
              </a:rPr>
              <a:t>Core workout, nutrition, and tracking features live on iOS &amp; Android.</a:t>
            </a:r>
            <a:endParaRPr lang="en-US" sz="1500" dirty="0"/>
          </a:p>
        </p:txBody>
      </p:sp>
      <p:sp>
        <p:nvSpPr>
          <p:cNvPr id="11" name="Shape 8"/>
          <p:cNvSpPr/>
          <p:nvPr/>
        </p:nvSpPr>
        <p:spPr>
          <a:xfrm>
            <a:off x="1097816" y="4078248"/>
            <a:ext cx="584716" cy="22860"/>
          </a:xfrm>
          <a:prstGeom prst="roundRect">
            <a:avLst>
              <a:gd name="adj" fmla="val 358140"/>
            </a:avLst>
          </a:prstGeom>
          <a:solidFill>
            <a:srgbClr val="CCC4B8"/>
          </a:solidFill>
          <a:ln/>
        </p:spPr>
      </p:sp>
      <p:sp>
        <p:nvSpPr>
          <p:cNvPr id="12" name="Shape 9"/>
          <p:cNvSpPr/>
          <p:nvPr/>
        </p:nvSpPr>
        <p:spPr>
          <a:xfrm>
            <a:off x="682169" y="3870484"/>
            <a:ext cx="438507" cy="438507"/>
          </a:xfrm>
          <a:prstGeom prst="roundRect">
            <a:avLst>
              <a:gd name="adj" fmla="val 18670"/>
            </a:avLst>
          </a:prstGeom>
          <a:solidFill>
            <a:srgbClr val="E6DED2">
              <a:alpha val="50000"/>
            </a:srgbClr>
          </a:solidFill>
          <a:ln w="7620">
            <a:solidFill>
              <a:srgbClr val="CCC4B8"/>
            </a:solidFill>
            <a:prstDash val="solid"/>
          </a:ln>
          <a:effectLst>
            <a:outerShdw dist="25400" dir="2700000" algn="bl" rotWithShape="0">
              <a:srgbClr val="CCC4B8">
                <a:alpha val="100000"/>
              </a:srgbClr>
            </a:outerShdw>
          </a:effectLst>
        </p:spPr>
      </p:sp>
      <p:sp>
        <p:nvSpPr>
          <p:cNvPr id="13" name="Text 10"/>
          <p:cNvSpPr/>
          <p:nvPr/>
        </p:nvSpPr>
        <p:spPr>
          <a:xfrm>
            <a:off x="755213" y="3906976"/>
            <a:ext cx="292298" cy="365403"/>
          </a:xfrm>
          <a:prstGeom prst="rect">
            <a:avLst/>
          </a:prstGeom>
          <a:noFill/>
          <a:ln/>
        </p:spPr>
        <p:txBody>
          <a:bodyPr wrap="none" lIns="0" tIns="0" rIns="0" bIns="0" rtlCol="0" anchor="t"/>
          <a:lstStyle/>
          <a:p>
            <a:pPr marL="0" indent="0" algn="ctr">
              <a:lnSpc>
                <a:spcPts val="2300"/>
              </a:lnSpc>
              <a:buNone/>
            </a:pPr>
            <a:r>
              <a:rPr lang="en-US" sz="2300" dirty="0">
                <a:solidFill>
                  <a:srgbClr val="000000"/>
                </a:solidFill>
                <a:latin typeface="Noto Serif Medium" pitchFamily="34" charset="0"/>
                <a:ea typeface="Noto Serif Medium" pitchFamily="34" charset="-122"/>
                <a:cs typeface="Noto Serif Medium" pitchFamily="34" charset="-120"/>
              </a:rPr>
              <a:t>2</a:t>
            </a:r>
            <a:endParaRPr lang="en-US" sz="2300" dirty="0"/>
          </a:p>
        </p:txBody>
      </p:sp>
      <p:sp>
        <p:nvSpPr>
          <p:cNvPr id="14" name="Text 11"/>
          <p:cNvSpPr/>
          <p:nvPr/>
        </p:nvSpPr>
        <p:spPr>
          <a:xfrm>
            <a:off x="1876068" y="3937397"/>
            <a:ext cx="2436614" cy="304562"/>
          </a:xfrm>
          <a:prstGeom prst="rect">
            <a:avLst/>
          </a:prstGeom>
          <a:noFill/>
          <a:ln/>
        </p:spPr>
        <p:txBody>
          <a:bodyPr wrap="none" lIns="0" tIns="0" rIns="0" bIns="0" rtlCol="0" anchor="t"/>
          <a:lstStyle/>
          <a:p>
            <a:pPr marL="0" indent="0" algn="l">
              <a:lnSpc>
                <a:spcPts val="2350"/>
              </a:lnSpc>
              <a:buNone/>
            </a:pPr>
            <a:r>
              <a:rPr lang="en-US" sz="1900" dirty="0">
                <a:solidFill>
                  <a:srgbClr val="4C4C4C"/>
                </a:solidFill>
                <a:latin typeface="Noto Serif Medium" pitchFamily="34" charset="0"/>
                <a:ea typeface="Noto Serif Medium" pitchFamily="34" charset="-122"/>
                <a:cs typeface="Noto Serif Medium" pitchFamily="34" charset="-120"/>
              </a:rPr>
              <a:t>Phase 2 — AI Coach</a:t>
            </a:r>
            <a:endParaRPr lang="en-US" sz="1900" dirty="0"/>
          </a:p>
        </p:txBody>
      </p:sp>
      <p:sp>
        <p:nvSpPr>
          <p:cNvPr id="15" name="Text 12"/>
          <p:cNvSpPr/>
          <p:nvPr/>
        </p:nvSpPr>
        <p:spPr>
          <a:xfrm>
            <a:off x="1876068" y="4342448"/>
            <a:ext cx="6585704" cy="579834"/>
          </a:xfrm>
          <a:prstGeom prst="rect">
            <a:avLst/>
          </a:prstGeom>
          <a:noFill/>
          <a:ln/>
        </p:spPr>
        <p:txBody>
          <a:bodyPr wrap="square" lIns="0" tIns="0" rIns="0" bIns="0" rtlCol="0" anchor="t"/>
          <a:lstStyle/>
          <a:p>
            <a:pPr marL="0" indent="0" algn="l">
              <a:lnSpc>
                <a:spcPts val="2250"/>
              </a:lnSpc>
              <a:buNone/>
            </a:pPr>
            <a:r>
              <a:rPr lang="en-US" sz="1500" dirty="0">
                <a:solidFill>
                  <a:srgbClr val="4C4C4C"/>
                </a:solidFill>
                <a:latin typeface="Noto Serif" pitchFamily="34" charset="0"/>
                <a:ea typeface="Noto Serif" pitchFamily="34" charset="-122"/>
                <a:cs typeface="Noto Serif" pitchFamily="34" charset="-120"/>
              </a:rPr>
              <a:t>Intelligent recommendations powered by machine learning and user behaviour.</a:t>
            </a:r>
            <a:endParaRPr lang="en-US" sz="1500" dirty="0"/>
          </a:p>
        </p:txBody>
      </p:sp>
      <p:sp>
        <p:nvSpPr>
          <p:cNvPr id="16" name="Shape 13"/>
          <p:cNvSpPr/>
          <p:nvPr/>
        </p:nvSpPr>
        <p:spPr>
          <a:xfrm>
            <a:off x="1097816" y="5464969"/>
            <a:ext cx="584716" cy="22860"/>
          </a:xfrm>
          <a:prstGeom prst="roundRect">
            <a:avLst>
              <a:gd name="adj" fmla="val 358140"/>
            </a:avLst>
          </a:prstGeom>
          <a:solidFill>
            <a:srgbClr val="CCC4B8"/>
          </a:solidFill>
          <a:ln/>
        </p:spPr>
      </p:sp>
      <p:sp>
        <p:nvSpPr>
          <p:cNvPr id="17" name="Shape 14"/>
          <p:cNvSpPr/>
          <p:nvPr/>
        </p:nvSpPr>
        <p:spPr>
          <a:xfrm>
            <a:off x="682169" y="5257205"/>
            <a:ext cx="438507" cy="438507"/>
          </a:xfrm>
          <a:prstGeom prst="roundRect">
            <a:avLst>
              <a:gd name="adj" fmla="val 18670"/>
            </a:avLst>
          </a:prstGeom>
          <a:solidFill>
            <a:srgbClr val="E6DED2">
              <a:alpha val="50000"/>
            </a:srgbClr>
          </a:solidFill>
          <a:ln w="7620">
            <a:solidFill>
              <a:srgbClr val="CCC4B8"/>
            </a:solidFill>
            <a:prstDash val="solid"/>
          </a:ln>
          <a:effectLst>
            <a:outerShdw dist="25400" dir="2700000" algn="bl" rotWithShape="0">
              <a:srgbClr val="CCC4B8">
                <a:alpha val="100000"/>
              </a:srgbClr>
            </a:outerShdw>
          </a:effectLst>
        </p:spPr>
      </p:sp>
      <p:sp>
        <p:nvSpPr>
          <p:cNvPr id="18" name="Text 15"/>
          <p:cNvSpPr/>
          <p:nvPr/>
        </p:nvSpPr>
        <p:spPr>
          <a:xfrm>
            <a:off x="755213" y="5293697"/>
            <a:ext cx="292298" cy="365403"/>
          </a:xfrm>
          <a:prstGeom prst="rect">
            <a:avLst/>
          </a:prstGeom>
          <a:noFill/>
          <a:ln/>
        </p:spPr>
        <p:txBody>
          <a:bodyPr wrap="none" lIns="0" tIns="0" rIns="0" bIns="0" rtlCol="0" anchor="t"/>
          <a:lstStyle/>
          <a:p>
            <a:pPr marL="0" indent="0" algn="ctr">
              <a:lnSpc>
                <a:spcPts val="2300"/>
              </a:lnSpc>
              <a:buNone/>
            </a:pPr>
            <a:r>
              <a:rPr lang="en-US" sz="2300" dirty="0">
                <a:solidFill>
                  <a:srgbClr val="000000"/>
                </a:solidFill>
                <a:latin typeface="Noto Serif Medium" pitchFamily="34" charset="0"/>
                <a:ea typeface="Noto Serif Medium" pitchFamily="34" charset="-122"/>
                <a:cs typeface="Noto Serif Medium" pitchFamily="34" charset="-120"/>
              </a:rPr>
              <a:t>3</a:t>
            </a:r>
            <a:endParaRPr lang="en-US" sz="2300" dirty="0"/>
          </a:p>
        </p:txBody>
      </p:sp>
      <p:sp>
        <p:nvSpPr>
          <p:cNvPr id="19" name="Text 16"/>
          <p:cNvSpPr/>
          <p:nvPr/>
        </p:nvSpPr>
        <p:spPr>
          <a:xfrm>
            <a:off x="1876068" y="5324118"/>
            <a:ext cx="2502813" cy="304562"/>
          </a:xfrm>
          <a:prstGeom prst="rect">
            <a:avLst/>
          </a:prstGeom>
          <a:noFill/>
          <a:ln/>
        </p:spPr>
        <p:txBody>
          <a:bodyPr wrap="none" lIns="0" tIns="0" rIns="0" bIns="0" rtlCol="0" anchor="t"/>
          <a:lstStyle/>
          <a:p>
            <a:pPr marL="0" indent="0" algn="l">
              <a:lnSpc>
                <a:spcPts val="2350"/>
              </a:lnSpc>
              <a:buNone/>
            </a:pPr>
            <a:r>
              <a:rPr lang="en-US" sz="1900" dirty="0">
                <a:solidFill>
                  <a:srgbClr val="4C4C4C"/>
                </a:solidFill>
                <a:latin typeface="Noto Serif Medium" pitchFamily="34" charset="0"/>
                <a:ea typeface="Noto Serif Medium" pitchFamily="34" charset="-122"/>
                <a:cs typeface="Noto Serif Medium" pitchFamily="34" charset="-120"/>
              </a:rPr>
              <a:t>Phase 3 — Wearables</a:t>
            </a:r>
            <a:endParaRPr lang="en-US" sz="1900" dirty="0"/>
          </a:p>
        </p:txBody>
      </p:sp>
      <p:sp>
        <p:nvSpPr>
          <p:cNvPr id="20" name="Text 17"/>
          <p:cNvSpPr/>
          <p:nvPr/>
        </p:nvSpPr>
        <p:spPr>
          <a:xfrm>
            <a:off x="1876068" y="5729168"/>
            <a:ext cx="6585704" cy="579834"/>
          </a:xfrm>
          <a:prstGeom prst="rect">
            <a:avLst/>
          </a:prstGeom>
          <a:noFill/>
          <a:ln/>
        </p:spPr>
        <p:txBody>
          <a:bodyPr wrap="square" lIns="0" tIns="0" rIns="0" bIns="0" rtlCol="0" anchor="t"/>
          <a:lstStyle/>
          <a:p>
            <a:pPr marL="0" indent="0" algn="l">
              <a:lnSpc>
                <a:spcPts val="2250"/>
              </a:lnSpc>
              <a:buNone/>
            </a:pPr>
            <a:r>
              <a:rPr lang="en-US" sz="1500" dirty="0">
                <a:solidFill>
                  <a:srgbClr val="4C4C4C"/>
                </a:solidFill>
                <a:latin typeface="Noto Serif" pitchFamily="34" charset="0"/>
                <a:ea typeface="Noto Serif" pitchFamily="34" charset="-122"/>
                <a:cs typeface="Noto Serif" pitchFamily="34" charset="-120"/>
              </a:rPr>
              <a:t>Integration with smartwatches and fitness bands for seamless data sync.</a:t>
            </a:r>
            <a:endParaRPr lang="en-US" sz="1500" dirty="0"/>
          </a:p>
        </p:txBody>
      </p:sp>
      <p:sp>
        <p:nvSpPr>
          <p:cNvPr id="21" name="Shape 18"/>
          <p:cNvSpPr/>
          <p:nvPr/>
        </p:nvSpPr>
        <p:spPr>
          <a:xfrm>
            <a:off x="1097816" y="6851690"/>
            <a:ext cx="584716" cy="22860"/>
          </a:xfrm>
          <a:prstGeom prst="roundRect">
            <a:avLst>
              <a:gd name="adj" fmla="val 358140"/>
            </a:avLst>
          </a:prstGeom>
          <a:solidFill>
            <a:srgbClr val="CCC4B8"/>
          </a:solidFill>
          <a:ln/>
        </p:spPr>
      </p:sp>
      <p:sp>
        <p:nvSpPr>
          <p:cNvPr id="22" name="Shape 19"/>
          <p:cNvSpPr/>
          <p:nvPr/>
        </p:nvSpPr>
        <p:spPr>
          <a:xfrm>
            <a:off x="682169" y="6643926"/>
            <a:ext cx="438507" cy="438507"/>
          </a:xfrm>
          <a:prstGeom prst="roundRect">
            <a:avLst>
              <a:gd name="adj" fmla="val 18670"/>
            </a:avLst>
          </a:prstGeom>
          <a:solidFill>
            <a:srgbClr val="E6DED2">
              <a:alpha val="50000"/>
            </a:srgbClr>
          </a:solidFill>
          <a:ln w="7620">
            <a:solidFill>
              <a:srgbClr val="CCC4B8"/>
            </a:solidFill>
            <a:prstDash val="solid"/>
          </a:ln>
          <a:effectLst>
            <a:outerShdw dist="25400" dir="2700000" algn="bl" rotWithShape="0">
              <a:srgbClr val="CCC4B8">
                <a:alpha val="100000"/>
              </a:srgbClr>
            </a:outerShdw>
          </a:effectLst>
        </p:spPr>
      </p:sp>
      <p:sp>
        <p:nvSpPr>
          <p:cNvPr id="23" name="Text 20"/>
          <p:cNvSpPr/>
          <p:nvPr/>
        </p:nvSpPr>
        <p:spPr>
          <a:xfrm>
            <a:off x="755213" y="6680418"/>
            <a:ext cx="292298" cy="365403"/>
          </a:xfrm>
          <a:prstGeom prst="rect">
            <a:avLst/>
          </a:prstGeom>
          <a:noFill/>
          <a:ln/>
        </p:spPr>
        <p:txBody>
          <a:bodyPr wrap="none" lIns="0" tIns="0" rIns="0" bIns="0" rtlCol="0" anchor="t"/>
          <a:lstStyle/>
          <a:p>
            <a:pPr marL="0" indent="0" algn="ctr">
              <a:lnSpc>
                <a:spcPts val="2300"/>
              </a:lnSpc>
              <a:buNone/>
            </a:pPr>
            <a:r>
              <a:rPr lang="en-US" sz="2300" dirty="0">
                <a:solidFill>
                  <a:srgbClr val="000000"/>
                </a:solidFill>
                <a:latin typeface="Noto Serif Medium" pitchFamily="34" charset="0"/>
                <a:ea typeface="Noto Serif Medium" pitchFamily="34" charset="-122"/>
                <a:cs typeface="Noto Serif Medium" pitchFamily="34" charset="-120"/>
              </a:rPr>
              <a:t>4</a:t>
            </a:r>
            <a:endParaRPr lang="en-US" sz="2300" dirty="0"/>
          </a:p>
        </p:txBody>
      </p:sp>
      <p:sp>
        <p:nvSpPr>
          <p:cNvPr id="24" name="Text 21"/>
          <p:cNvSpPr/>
          <p:nvPr/>
        </p:nvSpPr>
        <p:spPr>
          <a:xfrm>
            <a:off x="1876068" y="6710839"/>
            <a:ext cx="2646283" cy="304562"/>
          </a:xfrm>
          <a:prstGeom prst="rect">
            <a:avLst/>
          </a:prstGeom>
          <a:noFill/>
          <a:ln/>
        </p:spPr>
        <p:txBody>
          <a:bodyPr wrap="none" lIns="0" tIns="0" rIns="0" bIns="0" rtlCol="0" anchor="t"/>
          <a:lstStyle/>
          <a:p>
            <a:pPr marL="0" indent="0" algn="l">
              <a:lnSpc>
                <a:spcPts val="2350"/>
              </a:lnSpc>
              <a:buNone/>
            </a:pPr>
            <a:r>
              <a:rPr lang="en-US" sz="1900" dirty="0">
                <a:solidFill>
                  <a:srgbClr val="4C4C4C"/>
                </a:solidFill>
                <a:latin typeface="Noto Serif Medium" pitchFamily="34" charset="0"/>
                <a:ea typeface="Noto Serif Medium" pitchFamily="34" charset="-122"/>
                <a:cs typeface="Noto Serif Medium" pitchFamily="34" charset="-120"/>
              </a:rPr>
              <a:t>Phase 4 — Community</a:t>
            </a:r>
            <a:endParaRPr lang="en-US" sz="1900" dirty="0"/>
          </a:p>
        </p:txBody>
      </p:sp>
      <p:sp>
        <p:nvSpPr>
          <p:cNvPr id="25" name="Text 22"/>
          <p:cNvSpPr/>
          <p:nvPr/>
        </p:nvSpPr>
        <p:spPr>
          <a:xfrm>
            <a:off x="1876068" y="7115889"/>
            <a:ext cx="6585704" cy="579834"/>
          </a:xfrm>
          <a:prstGeom prst="rect">
            <a:avLst/>
          </a:prstGeom>
          <a:noFill/>
          <a:ln/>
        </p:spPr>
        <p:txBody>
          <a:bodyPr wrap="square" lIns="0" tIns="0" rIns="0" bIns="0" rtlCol="0" anchor="t"/>
          <a:lstStyle/>
          <a:p>
            <a:pPr marL="0" indent="0" algn="l">
              <a:lnSpc>
                <a:spcPts val="2250"/>
              </a:lnSpc>
              <a:buNone/>
            </a:pPr>
            <a:r>
              <a:rPr lang="en-US" sz="1500" dirty="0">
                <a:solidFill>
                  <a:srgbClr val="4C4C4C"/>
                </a:solidFill>
                <a:latin typeface="Noto Serif" pitchFamily="34" charset="0"/>
                <a:ea typeface="Noto Serif" pitchFamily="34" charset="-122"/>
                <a:cs typeface="Noto Serif" pitchFamily="34" charset="-120"/>
              </a:rPr>
              <a:t>Live classes, group challenges, and coach marketplace for a connected ecosystem.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1059</Words>
  <Application>Microsoft Office PowerPoint</Application>
  <PresentationFormat>Custom</PresentationFormat>
  <Paragraphs>128</Paragraphs>
  <Slides>18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Aptos</vt:lpstr>
      <vt:lpstr>Noto Serif Medium</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Dell</dc:creator>
  <cp:lastModifiedBy>Dell</cp:lastModifiedBy>
  <cp:revision>5</cp:revision>
  <dcterms:created xsi:type="dcterms:W3CDTF">2026-04-27T13:57:37Z</dcterms:created>
  <dcterms:modified xsi:type="dcterms:W3CDTF">2026-04-28T04:04:44Z</dcterms:modified>
</cp:coreProperties>
</file>